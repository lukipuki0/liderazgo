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" name="Google Shape;21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~15 s. Saludo y presentación del equipo. Nombrar el proyecto Envejecer Mejor y decir en una frase de qué se trata. Recordar: la presentación completa dura máximo 5 minutos.</a:t>
            </a:r>
            <a:endParaRPr/>
          </a:p>
        </p:txBody>
      </p:sp>
      <p:sp>
        <p:nvSpPr>
          <p:cNvPr id="22" name="Google Shape;22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~15 s. Mostrar rápidamente el recorrido: temática, hitos, datos, herramienta, avance según Gantt y dificultades. No leer todo: es solo la ruta.</a:t>
            </a:r>
            <a:endParaRPr/>
          </a:p>
        </p:txBody>
      </p:sp>
      <p:sp>
        <p:nvSpPr>
          <p:cNvPr id="59" name="Google Shape;5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~40 s. Explicar la temática: qué problema existe en torno al envejecimiento, por qué importa y a quién afecta. Cerrar con el objetivo del proyecto en una sola frase.</a:t>
            </a:r>
            <a:endParaRPr/>
          </a:p>
        </p:txBody>
      </p:sp>
      <p:sp>
        <p:nvSpPr>
          <p:cNvPr id="85" name="Google Shape;8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~45 s. Contar solo los hitos MÁS importantes (no todas las tareas). Para cada uno: qué era y qué evidencia/entregable tenemos. Cambiar el estado a 'Logrado' o 'En curso' según corresponda.</a:t>
            </a:r>
            <a:endParaRPr/>
          </a:p>
        </p:txBody>
      </p:sp>
      <p:sp>
        <p:nvSpPr>
          <p:cNvPr id="107" name="Google Shape;10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~45 s. Presentar los 3 datos más potentes (estadísticas, encuestas, entrevistas). Decir la fuente en voz alta y conectar cada dato con el problema. Terminar con el insight: qué decisión tomamos gracias a estos datos.</a:t>
            </a:r>
            <a:endParaRPr/>
          </a:p>
        </p:txBody>
      </p:sp>
      <p:sp>
        <p:nvSpPr>
          <p:cNvPr id="144" name="Google Shape;14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~45 s. Mostrar la captura de la herramienta (o prototipo) y explicar qué resultado concreto entrega. Mencionar 2–3 funcionalidades o resultados, no más.</a:t>
            </a:r>
            <a:endParaRPr/>
          </a:p>
        </p:txBody>
      </p:sp>
      <p:sp>
        <p:nvSpPr>
          <p:cNvPr id="173" name="Google Shape;17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~40 s. Comparar lo programado en la Carta Gantt con lo realmente hecho. Ajustar el largo de las barras: rosa = programado, verde = real. Si hay atraso, decir cuánto y por qué (eso se conecta con la siguiente lámina). Cambiar el estado general a 'Al día' o 'Atrasado'.</a:t>
            </a:r>
            <a:endParaRPr/>
          </a:p>
        </p:txBody>
      </p:sp>
      <p:sp>
        <p:nvSpPr>
          <p:cNvPr id="195" name="Google Shape;19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~40 s. Este punto se evalúa explícitamente: mostrar las dificultades reales y CÓMO se resolvieron (o cómo se están resolviendo). Ser honestos y concretos.</a:t>
            </a:r>
            <a:endParaRPr/>
          </a:p>
        </p:txBody>
      </p:sp>
      <p:sp>
        <p:nvSpPr>
          <p:cNvPr id="239" name="Google Shape;23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3" name="Google Shape;27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~15 s. Cerrar con los próximos pasos según la Carta Gantt y abrir a preguntas. Revisar que el total no supere los 5 minutos.</a:t>
            </a:r>
            <a:endParaRPr/>
          </a:p>
        </p:txBody>
      </p:sp>
      <p:sp>
        <p:nvSpPr>
          <p:cNvPr id="274" name="Google Shape;27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">
  <p:cSld name="Portada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/>
          <p:nvPr/>
        </p:nvSpPr>
        <p:spPr>
          <a:xfrm>
            <a:off x="3566160" y="4562856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Envejecer Mejor ♡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">
  <p:cSld name="Conteni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3566160" y="4562856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Envejecer Mejor ♡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  <a:defRPr b="1" i="0" sz="30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6" name="Google Shape;16;p3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1pPr>
            <a:lvl2pPr indent="0" lvl="1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2pPr>
            <a:lvl3pPr indent="0" lvl="2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3pPr>
            <a:lvl4pPr indent="0" lvl="3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4pPr>
            <a:lvl5pPr indent="0" lvl="4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5pPr>
            <a:lvl6pPr indent="0" lvl="5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6pPr>
            <a:lvl7pPr indent="0" lvl="6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7pPr>
            <a:lvl8pPr indent="0" lvl="7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8pPr>
            <a:lvl9pPr indent="0" lvl="8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1pPr>
            <a:lvl2pPr indent="0" lvl="1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2pPr>
            <a:lvl3pPr indent="0" lvl="2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3pPr>
            <a:lvl4pPr indent="0" lvl="3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4pPr>
            <a:lvl5pPr indent="0" lvl="4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5pPr>
            <a:lvl6pPr indent="0" lvl="5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6pPr>
            <a:lvl7pPr indent="0" lvl="6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7pPr>
            <a:lvl8pPr indent="0" lvl="7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8pPr>
            <a:lvl9pPr indent="0" lvl="8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9" Type="http://schemas.openxmlformats.org/officeDocument/2006/relationships/image" Target="../media/image14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11.png"/><Relationship Id="rId8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6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1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png"/><Relationship Id="rId4" Type="http://schemas.openxmlformats.org/officeDocument/2006/relationships/image" Target="../media/image39.png"/><Relationship Id="rId5" Type="http://schemas.openxmlformats.org/officeDocument/2006/relationships/image" Target="../media/image2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Google Shape;24;p5"/>
          <p:cNvCxnSpPr/>
          <p:nvPr/>
        </p:nvCxnSpPr>
        <p:spPr>
          <a:xfrm>
            <a:off x="2651760" y="658368"/>
            <a:ext cx="0" cy="3840480"/>
          </a:xfrm>
          <a:prstGeom prst="straightConnector1">
            <a:avLst/>
          </a:prstGeom>
          <a:noFill/>
          <a:ln cap="flat" cmpd="sng" w="254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5"/>
          <p:cNvSpPr/>
          <p:nvPr/>
        </p:nvSpPr>
        <p:spPr>
          <a:xfrm>
            <a:off x="800175" y="711877"/>
            <a:ext cx="1417200" cy="1417200"/>
          </a:xfrm>
          <a:prstGeom prst="ellipse">
            <a:avLst/>
          </a:prstGeom>
          <a:solidFill>
            <a:srgbClr val="FFFFFF"/>
          </a:solidFill>
          <a:ln cap="flat" cmpd="sng" w="2797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0500" lIns="80500" spcFirstLastPara="1" rIns="80500" wrap="square" tIns="80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avatar.png" id="26" name="Google Shape;2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0439" y="752142"/>
            <a:ext cx="1336800" cy="133680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img/pill_cover.png" id="27" name="Google Shape;2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780" y="2228550"/>
            <a:ext cx="19659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/>
          <p:nvPr/>
        </p:nvSpPr>
        <p:spPr>
          <a:xfrm>
            <a:off x="640080" y="2228550"/>
            <a:ext cx="141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 Rounded"/>
              <a:buNone/>
            </a:pPr>
            <a:r>
              <a:rPr b="1" lang="en-US" sz="1200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Ulysses Barreto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" name="Google Shape;29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157984" y="2310846"/>
            <a:ext cx="201168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cover.png" id="30" name="Google Shape;3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780" y="2685750"/>
            <a:ext cx="19659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/>
        </p:nvSpPr>
        <p:spPr>
          <a:xfrm>
            <a:off x="640080" y="2685750"/>
            <a:ext cx="141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 Rounded"/>
              <a:buNone/>
            </a:pPr>
            <a:r>
              <a:rPr b="1" lang="en-US" sz="1200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Lucas Erazo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2" name="Google Shape;32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157984" y="2768046"/>
            <a:ext cx="201168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cover.png" id="33" name="Google Shape;3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780" y="3142950"/>
            <a:ext cx="19659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/>
        </p:nvSpPr>
        <p:spPr>
          <a:xfrm>
            <a:off x="640080" y="3142950"/>
            <a:ext cx="141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 Rounded"/>
              <a:buNone/>
            </a:pPr>
            <a:r>
              <a:rPr b="1" lang="en-US" sz="1200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Valentina Guzmán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5" name="Google Shape;35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157984" y="3225246"/>
            <a:ext cx="201168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cover.png" id="36" name="Google Shape;36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780" y="3600150"/>
            <a:ext cx="19659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5"/>
          <p:cNvSpPr txBox="1"/>
          <p:nvPr/>
        </p:nvSpPr>
        <p:spPr>
          <a:xfrm>
            <a:off x="640080" y="3600150"/>
            <a:ext cx="141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 Rounded"/>
              <a:buNone/>
            </a:pPr>
            <a:r>
              <a:rPr b="1" lang="en-US" sz="1200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Maximiliano Miño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" name="Google Shape;38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57984" y="3682446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5"/>
          <p:cNvSpPr txBox="1"/>
          <p:nvPr/>
        </p:nvSpPr>
        <p:spPr>
          <a:xfrm>
            <a:off x="2788920" y="731520"/>
            <a:ext cx="5943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800"/>
              <a:buFont typeface="Arial Rounded"/>
              <a:buNone/>
            </a:pPr>
            <a:r>
              <a:rPr b="1" i="0" lang="en-US" sz="38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Envejecer Mejor </a:t>
            </a:r>
            <a:r>
              <a:rPr b="1" i="0" lang="en-US" sz="2200" u="none" cap="none" strike="noStrike">
                <a:solidFill>
                  <a:schemeClr val="accent1"/>
                </a:solidFill>
                <a:latin typeface="Arial Rounded"/>
                <a:ea typeface="Arial Rounded"/>
                <a:cs typeface="Arial Rounded"/>
                <a:sym typeface="Arial Rounded"/>
              </a:rPr>
              <a:t>ˆ•ᴗ•ˆ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5"/>
          <p:cNvSpPr txBox="1"/>
          <p:nvPr/>
        </p:nvSpPr>
        <p:spPr>
          <a:xfrm>
            <a:off x="2788920" y="1389888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presentación de avances · [nombre del curso] · </a:t>
            </a:r>
            <a:r>
              <a:rPr b="1" lang="en-US" sz="1300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2 de Noviembre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2971800" y="1783080"/>
            <a:ext cx="2697480" cy="365760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5"/>
          <p:cNvSpPr txBox="1"/>
          <p:nvPr/>
        </p:nvSpPr>
        <p:spPr>
          <a:xfrm>
            <a:off x="2971800" y="178308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Grupo 11 / </a:t>
            </a:r>
            <a:r>
              <a:rPr b="1" lang="en-US" sz="13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Paralelo 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5852160" y="1783080"/>
            <a:ext cx="2697480" cy="365760"/>
          </a:xfrm>
          <a:prstGeom prst="roundRect">
            <a:avLst>
              <a:gd fmla="val 50000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5"/>
          <p:cNvSpPr txBox="1"/>
          <p:nvPr/>
        </p:nvSpPr>
        <p:spPr>
          <a:xfrm>
            <a:off x="5852160" y="178308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[Profesor/a]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2971800" y="2286000"/>
            <a:ext cx="5577840" cy="749808"/>
          </a:xfrm>
          <a:prstGeom prst="roundRect">
            <a:avLst>
              <a:gd fmla="val 12195" name="adj"/>
            </a:avLst>
          </a:prstGeom>
          <a:solidFill>
            <a:srgbClr val="FFFFFF"/>
          </a:solidFill>
          <a:ln cap="flat" cmpd="sng" w="15875">
            <a:solidFill>
              <a:srgbClr val="A9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5"/>
          <p:cNvSpPr txBox="1"/>
          <p:nvPr/>
        </p:nvSpPr>
        <p:spPr>
          <a:xfrm>
            <a:off x="3108960" y="228600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[Una frase que resuma el proyecto: qué problema abordan, para quién y qué proponen]  &lt;3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2944368" y="3154680"/>
            <a:ext cx="1819656" cy="1243584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F2C2D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thumb.png" id="48" name="Google Shape;48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980944" y="3191256"/>
            <a:ext cx="1746504" cy="1170432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5"/>
          <p:cNvSpPr/>
          <p:nvPr/>
        </p:nvSpPr>
        <p:spPr>
          <a:xfrm>
            <a:off x="4832604" y="3154680"/>
            <a:ext cx="1819656" cy="1243584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F2C2D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thumb.png" id="50" name="Google Shape;50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869180" y="3191256"/>
            <a:ext cx="1746504" cy="117043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5"/>
          <p:cNvSpPr/>
          <p:nvPr/>
        </p:nvSpPr>
        <p:spPr>
          <a:xfrm>
            <a:off x="6720840" y="3154680"/>
            <a:ext cx="1819656" cy="1243584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F2C2D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thumb.png" id="52" name="Google Shape;52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57416" y="3191256"/>
            <a:ext cx="1746504" cy="117043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cover.png" id="53" name="Google Shape;5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867" y="4057354"/>
            <a:ext cx="19659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5"/>
          <p:cNvSpPr txBox="1"/>
          <p:nvPr/>
        </p:nvSpPr>
        <p:spPr>
          <a:xfrm>
            <a:off x="640167" y="4057354"/>
            <a:ext cx="141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 Rounded"/>
              <a:buNone/>
            </a:pPr>
            <a:r>
              <a:rPr b="1" lang="en-US" sz="1200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Fabián Solís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5" name="Google Shape;55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158072" y="4139650"/>
            <a:ext cx="201168" cy="2011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¿Qué veremos hoy?</a:t>
            </a:r>
            <a:endParaRPr sz="3000"/>
          </a:p>
        </p:txBody>
      </p:sp>
      <p:sp>
        <p:nvSpPr>
          <p:cNvPr id="62" name="Google Shape;62;p6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6 paradas en 5 minutos ♡</a:t>
            </a:r>
            <a:endParaRPr sz="1500"/>
          </a:p>
        </p:txBody>
      </p:sp>
      <p:pic>
        <p:nvPicPr>
          <p:cNvPr descr="img/pill_agenda.png" id="63" name="Google Shape;6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1810512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6"/>
          <p:cNvSpPr txBox="1"/>
          <p:nvPr/>
        </p:nvSpPr>
        <p:spPr>
          <a:xfrm>
            <a:off x="932688" y="1810512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01  Temática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5" name="Google Shape;6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77640" y="1956816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agenda.png" id="66" name="Google Shape;6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2596896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6"/>
          <p:cNvSpPr txBox="1"/>
          <p:nvPr/>
        </p:nvSpPr>
        <p:spPr>
          <a:xfrm>
            <a:off x="932688" y="2596896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02  Hitos logrados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8" name="Google Shape;68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77640" y="2743200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agenda.png" id="69" name="Google Shape;6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3383280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6"/>
          <p:cNvSpPr txBox="1"/>
          <p:nvPr/>
        </p:nvSpPr>
        <p:spPr>
          <a:xfrm>
            <a:off x="932688" y="3383280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03  Datos investigación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1" name="Google Shape;71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77640" y="3529584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agenda.png" id="72" name="Google Shape;7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9160" y="1810512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6"/>
          <p:cNvSpPr txBox="1"/>
          <p:nvPr/>
        </p:nvSpPr>
        <p:spPr>
          <a:xfrm>
            <a:off x="4910328" y="1810512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04  Resultado herramienta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4" name="Google Shape;74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55280" y="1956816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agenda.png" id="75" name="Google Shape;7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9160" y="2596896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6"/>
          <p:cNvSpPr txBox="1"/>
          <p:nvPr/>
        </p:nvSpPr>
        <p:spPr>
          <a:xfrm>
            <a:off x="4910328" y="2596896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05  Avances vs. Gantt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7" name="Google Shape;77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55280" y="2743200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agenda.png" id="78" name="Google Shape;7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9160" y="3383280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6"/>
          <p:cNvSpPr txBox="1"/>
          <p:nvPr/>
        </p:nvSpPr>
        <p:spPr>
          <a:xfrm>
            <a:off x="4910328" y="3383280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06  Dificultades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0" name="Google Shape;80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955280" y="3529584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6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7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Temática del proyecto</a:t>
            </a:r>
            <a:endParaRPr sz="3000"/>
          </a:p>
        </p:txBody>
      </p:sp>
      <p:sp>
        <p:nvSpPr>
          <p:cNvPr id="88" name="Google Shape;88;p7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[Una línea: Envejecer Mejor busca…]</a:t>
            </a:r>
            <a:endParaRPr sz="1500"/>
          </a:p>
        </p:txBody>
      </p:sp>
      <p:sp>
        <p:nvSpPr>
          <p:cNvPr id="89" name="Google Shape;89;p7"/>
          <p:cNvSpPr/>
          <p:nvPr/>
        </p:nvSpPr>
        <p:spPr>
          <a:xfrm>
            <a:off x="685800" y="1719072"/>
            <a:ext cx="2697480" cy="2633472"/>
          </a:xfrm>
          <a:prstGeom prst="roundRect">
            <a:avLst>
              <a:gd fmla="val 3472" name="adj"/>
            </a:avLst>
          </a:prstGeom>
          <a:solidFill>
            <a:srgbClr val="FFFFFF"/>
          </a:solidFill>
          <a:ln cap="flat" cmpd="sng" w="19050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tema.png" id="90" name="Google Shape;9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1783080"/>
            <a:ext cx="2569464" cy="250545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7"/>
          <p:cNvSpPr/>
          <p:nvPr/>
        </p:nvSpPr>
        <p:spPr>
          <a:xfrm>
            <a:off x="3611880" y="1719072"/>
            <a:ext cx="4846320" cy="804672"/>
          </a:xfrm>
          <a:prstGeom prst="roundRect">
            <a:avLst>
              <a:gd fmla="val 11364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7"/>
          <p:cNvSpPr/>
          <p:nvPr/>
        </p:nvSpPr>
        <p:spPr>
          <a:xfrm>
            <a:off x="3749040" y="187452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3" name="Google Shape;9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72484" y="19979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7"/>
          <p:cNvSpPr txBox="1"/>
          <p:nvPr/>
        </p:nvSpPr>
        <p:spPr>
          <a:xfrm>
            <a:off x="4407408" y="1719072"/>
            <a:ext cx="393192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El problema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[Describe en 1–2 líneas el problema que abordan]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3611880" y="2633472"/>
            <a:ext cx="4846320" cy="804672"/>
          </a:xfrm>
          <a:prstGeom prst="roundRect">
            <a:avLst>
              <a:gd fmla="val 11364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7"/>
          <p:cNvSpPr/>
          <p:nvPr/>
        </p:nvSpPr>
        <p:spPr>
          <a:xfrm>
            <a:off x="3749040" y="278892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7" name="Google Shape;97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72484" y="29123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7"/>
          <p:cNvSpPr txBox="1"/>
          <p:nvPr/>
        </p:nvSpPr>
        <p:spPr>
          <a:xfrm>
            <a:off x="4407408" y="2633472"/>
            <a:ext cx="393192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Nuestro objetivo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[Objetivo general del proyecto en una frase]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611880" y="3547872"/>
            <a:ext cx="4846320" cy="804672"/>
          </a:xfrm>
          <a:prstGeom prst="roundRect">
            <a:avLst>
              <a:gd fmla="val 11364" name="adj"/>
            </a:avLst>
          </a:prstGeom>
          <a:solidFill>
            <a:srgbClr val="E3F3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7"/>
          <p:cNvSpPr/>
          <p:nvPr/>
        </p:nvSpPr>
        <p:spPr>
          <a:xfrm>
            <a:off x="3749040" y="3703320"/>
            <a:ext cx="493776" cy="493776"/>
          </a:xfrm>
          <a:prstGeom prst="ellipse">
            <a:avLst/>
          </a:prstGeom>
          <a:solidFill>
            <a:srgbClr val="8FCB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1" name="Google Shape;101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872484" y="38267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7"/>
          <p:cNvSpPr txBox="1"/>
          <p:nvPr/>
        </p:nvSpPr>
        <p:spPr>
          <a:xfrm>
            <a:off x="4407408" y="3547872"/>
            <a:ext cx="393192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¿Para quién?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[Usuario objetivo: personas mayores, cuidadores, etc.]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Hitos más importantes avanzados</a:t>
            </a:r>
            <a:endParaRPr sz="3000"/>
          </a:p>
        </p:txBody>
      </p:sp>
      <p:sp>
        <p:nvSpPr>
          <p:cNvPr id="110" name="Google Shape;110;p8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Lo que ya logramos hasta hoy</a:t>
            </a:r>
            <a:endParaRPr sz="1500"/>
          </a:p>
        </p:txBody>
      </p:sp>
      <p:cxnSp>
        <p:nvCxnSpPr>
          <p:cNvPr id="111" name="Google Shape;111;p8"/>
          <p:cNvCxnSpPr/>
          <p:nvPr/>
        </p:nvCxnSpPr>
        <p:spPr>
          <a:xfrm>
            <a:off x="1097280" y="2395728"/>
            <a:ext cx="6949440" cy="0"/>
          </a:xfrm>
          <a:prstGeom prst="straightConnector1">
            <a:avLst/>
          </a:prstGeom>
          <a:noFill/>
          <a:ln cap="flat" cmpd="sng" w="38100">
            <a:solidFill>
              <a:srgbClr val="A9D06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2" name="Google Shape;112;p8"/>
          <p:cNvSpPr/>
          <p:nvPr/>
        </p:nvSpPr>
        <p:spPr>
          <a:xfrm>
            <a:off x="914400" y="1700784"/>
            <a:ext cx="1188720" cy="27432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8"/>
          <p:cNvSpPr txBox="1"/>
          <p:nvPr/>
        </p:nvSpPr>
        <p:spPr>
          <a:xfrm>
            <a:off x="914400" y="170078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[Semana 1]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clover.png" id="114" name="Google Shape;11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34440" y="212140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8"/>
          <p:cNvSpPr/>
          <p:nvPr/>
        </p:nvSpPr>
        <p:spPr>
          <a:xfrm>
            <a:off x="576072" y="2816352"/>
            <a:ext cx="1865376" cy="1536192"/>
          </a:xfrm>
          <a:prstGeom prst="roundRect">
            <a:avLst>
              <a:gd fmla="val 5952" name="adj"/>
            </a:avLst>
          </a:prstGeom>
          <a:solidFill>
            <a:srgbClr val="FFFFFF"/>
          </a:solidFill>
          <a:ln cap="flat" cmpd="sng" w="15875">
            <a:solidFill>
              <a:srgbClr val="C9E3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8"/>
          <p:cNvSpPr txBox="1"/>
          <p:nvPr/>
        </p:nvSpPr>
        <p:spPr>
          <a:xfrm>
            <a:off x="685800" y="288036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[Hito 1]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se entregó o logró]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/>
          <p:nvPr/>
        </p:nvSpPr>
        <p:spPr>
          <a:xfrm>
            <a:off x="941832" y="3931920"/>
            <a:ext cx="1133856" cy="292608"/>
          </a:xfrm>
          <a:prstGeom prst="roundRect">
            <a:avLst>
              <a:gd fmla="val 50000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8"/>
          <p:cNvSpPr txBox="1"/>
          <p:nvPr/>
        </p:nvSpPr>
        <p:spPr>
          <a:xfrm>
            <a:off x="941832" y="3931920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✓ Logrado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8"/>
          <p:cNvSpPr/>
          <p:nvPr/>
        </p:nvSpPr>
        <p:spPr>
          <a:xfrm>
            <a:off x="2953512" y="1700784"/>
            <a:ext cx="1188720" cy="27432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8"/>
          <p:cNvSpPr txBox="1"/>
          <p:nvPr/>
        </p:nvSpPr>
        <p:spPr>
          <a:xfrm>
            <a:off x="2953512" y="170078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[Semana 2]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clover.png" id="121" name="Google Shape;12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73552" y="212140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8"/>
          <p:cNvSpPr/>
          <p:nvPr/>
        </p:nvSpPr>
        <p:spPr>
          <a:xfrm>
            <a:off x="2615184" y="2816352"/>
            <a:ext cx="1865376" cy="1536192"/>
          </a:xfrm>
          <a:prstGeom prst="roundRect">
            <a:avLst>
              <a:gd fmla="val 5952" name="adj"/>
            </a:avLst>
          </a:prstGeom>
          <a:solidFill>
            <a:srgbClr val="FFFFFF"/>
          </a:solidFill>
          <a:ln cap="flat" cmpd="sng" w="15875">
            <a:solidFill>
              <a:srgbClr val="C9E3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8"/>
          <p:cNvSpPr txBox="1"/>
          <p:nvPr/>
        </p:nvSpPr>
        <p:spPr>
          <a:xfrm>
            <a:off x="2724912" y="288036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[Hito 2]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se entregó o logró]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8"/>
          <p:cNvSpPr/>
          <p:nvPr/>
        </p:nvSpPr>
        <p:spPr>
          <a:xfrm>
            <a:off x="2980944" y="3931920"/>
            <a:ext cx="1133856" cy="292608"/>
          </a:xfrm>
          <a:prstGeom prst="roundRect">
            <a:avLst>
              <a:gd fmla="val 50000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8"/>
          <p:cNvSpPr txBox="1"/>
          <p:nvPr/>
        </p:nvSpPr>
        <p:spPr>
          <a:xfrm>
            <a:off x="2980944" y="3931920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✓ Logrado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8"/>
          <p:cNvSpPr/>
          <p:nvPr/>
        </p:nvSpPr>
        <p:spPr>
          <a:xfrm>
            <a:off x="4992624" y="1700784"/>
            <a:ext cx="1188720" cy="27432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"/>
          <p:cNvSpPr txBox="1"/>
          <p:nvPr/>
        </p:nvSpPr>
        <p:spPr>
          <a:xfrm>
            <a:off x="4992624" y="170078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[Semana 3]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clover.png" id="128" name="Google Shape;12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12664" y="212140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8"/>
          <p:cNvSpPr/>
          <p:nvPr/>
        </p:nvSpPr>
        <p:spPr>
          <a:xfrm>
            <a:off x="4654296" y="2816352"/>
            <a:ext cx="1865376" cy="1536192"/>
          </a:xfrm>
          <a:prstGeom prst="roundRect">
            <a:avLst>
              <a:gd fmla="val 5952" name="adj"/>
            </a:avLst>
          </a:prstGeom>
          <a:solidFill>
            <a:srgbClr val="FFFFFF"/>
          </a:solidFill>
          <a:ln cap="flat" cmpd="sng" w="15875">
            <a:solidFill>
              <a:srgbClr val="C9E3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 txBox="1"/>
          <p:nvPr/>
        </p:nvSpPr>
        <p:spPr>
          <a:xfrm>
            <a:off x="4764024" y="288036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[Hito 3]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se entregó o logró]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5020056" y="3931920"/>
            <a:ext cx="1133856" cy="292608"/>
          </a:xfrm>
          <a:prstGeom prst="roundRect">
            <a:avLst>
              <a:gd fmla="val 50000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8"/>
          <p:cNvSpPr txBox="1"/>
          <p:nvPr/>
        </p:nvSpPr>
        <p:spPr>
          <a:xfrm>
            <a:off x="5020056" y="3931920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✓ Logrado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7031736" y="1700784"/>
            <a:ext cx="1188720" cy="27432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"/>
          <p:cNvSpPr txBox="1"/>
          <p:nvPr/>
        </p:nvSpPr>
        <p:spPr>
          <a:xfrm>
            <a:off x="7031736" y="170078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[Semana 4]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clover.png" id="135" name="Google Shape;13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1776" y="212140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8"/>
          <p:cNvSpPr/>
          <p:nvPr/>
        </p:nvSpPr>
        <p:spPr>
          <a:xfrm>
            <a:off x="6693408" y="2816352"/>
            <a:ext cx="1865376" cy="1536192"/>
          </a:xfrm>
          <a:prstGeom prst="roundRect">
            <a:avLst>
              <a:gd fmla="val 5952" name="adj"/>
            </a:avLst>
          </a:prstGeom>
          <a:solidFill>
            <a:srgbClr val="FFFFFF"/>
          </a:solidFill>
          <a:ln cap="flat" cmpd="sng" w="15875">
            <a:solidFill>
              <a:srgbClr val="F6C3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"/>
          <p:cNvSpPr txBox="1"/>
          <p:nvPr/>
        </p:nvSpPr>
        <p:spPr>
          <a:xfrm>
            <a:off x="6803136" y="288036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[Hito 4]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se entregó o logró]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7059168" y="3931920"/>
            <a:ext cx="1133856" cy="292608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8"/>
          <p:cNvSpPr txBox="1"/>
          <p:nvPr/>
        </p:nvSpPr>
        <p:spPr>
          <a:xfrm>
            <a:off x="7059168" y="3931920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◔ En curso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9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Principales datos de la investigación</a:t>
            </a:r>
            <a:endParaRPr sz="3000"/>
          </a:p>
        </p:txBody>
      </p:sp>
      <p:sp>
        <p:nvSpPr>
          <p:cNvPr id="147" name="Google Shape;147;p9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Lo que nos dijeron las fuentes y los usuarios</a:t>
            </a:r>
            <a:endParaRPr sz="1500"/>
          </a:p>
        </p:txBody>
      </p:sp>
      <p:sp>
        <p:nvSpPr>
          <p:cNvPr id="148" name="Google Shape;148;p9"/>
          <p:cNvSpPr/>
          <p:nvPr/>
        </p:nvSpPr>
        <p:spPr>
          <a:xfrm>
            <a:off x="685800" y="1700784"/>
            <a:ext cx="2395728" cy="2139696"/>
          </a:xfrm>
          <a:prstGeom prst="roundRect">
            <a:avLst>
              <a:gd fmla="val 4274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"/>
          <p:cNvSpPr/>
          <p:nvPr/>
        </p:nvSpPr>
        <p:spPr>
          <a:xfrm>
            <a:off x="1636776" y="182880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0" name="Google Shape;15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0220" y="195224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9"/>
          <p:cNvSpPr txBox="1"/>
          <p:nvPr/>
        </p:nvSpPr>
        <p:spPr>
          <a:xfrm>
            <a:off x="685800" y="2359152"/>
            <a:ext cx="2395728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 Rounded"/>
              <a:buNone/>
            </a:pPr>
            <a:r>
              <a:rPr b="1" i="0" lang="en-US" sz="36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822960" y="2980944"/>
            <a:ext cx="21214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representa este dato]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9"/>
          <p:cNvSpPr txBox="1"/>
          <p:nvPr/>
        </p:nvSpPr>
        <p:spPr>
          <a:xfrm>
            <a:off x="822960" y="3474720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Fuente: [autor, año]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9"/>
          <p:cNvSpPr/>
          <p:nvPr/>
        </p:nvSpPr>
        <p:spPr>
          <a:xfrm>
            <a:off x="3328416" y="1700784"/>
            <a:ext cx="2395728" cy="2139696"/>
          </a:xfrm>
          <a:prstGeom prst="roundRect">
            <a:avLst>
              <a:gd fmla="val 4274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"/>
          <p:cNvSpPr/>
          <p:nvPr/>
        </p:nvSpPr>
        <p:spPr>
          <a:xfrm>
            <a:off x="4279392" y="182880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6" name="Google Shape;15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02836" y="195224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9"/>
          <p:cNvSpPr txBox="1"/>
          <p:nvPr/>
        </p:nvSpPr>
        <p:spPr>
          <a:xfrm>
            <a:off x="3328416" y="2359152"/>
            <a:ext cx="2395728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 Rounded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3465576" y="2980944"/>
            <a:ext cx="21214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representa este dato]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3465576" y="3474720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Fuente: [autor, año]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9"/>
          <p:cNvSpPr/>
          <p:nvPr/>
        </p:nvSpPr>
        <p:spPr>
          <a:xfrm>
            <a:off x="5971032" y="1700784"/>
            <a:ext cx="2395728" cy="2139696"/>
          </a:xfrm>
          <a:prstGeom prst="roundRect">
            <a:avLst>
              <a:gd fmla="val 4274" name="adj"/>
            </a:avLst>
          </a:prstGeom>
          <a:solidFill>
            <a:srgbClr val="E3F3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9"/>
          <p:cNvSpPr/>
          <p:nvPr/>
        </p:nvSpPr>
        <p:spPr>
          <a:xfrm>
            <a:off x="6922008" y="1828800"/>
            <a:ext cx="493776" cy="493776"/>
          </a:xfrm>
          <a:prstGeom prst="ellipse">
            <a:avLst/>
          </a:prstGeom>
          <a:solidFill>
            <a:srgbClr val="8FCB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2" name="Google Shape;162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45452" y="195224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9"/>
          <p:cNvSpPr txBox="1"/>
          <p:nvPr/>
        </p:nvSpPr>
        <p:spPr>
          <a:xfrm>
            <a:off x="5971032" y="2359152"/>
            <a:ext cx="2395728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 Rounded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 txBox="1"/>
          <p:nvPr/>
        </p:nvSpPr>
        <p:spPr>
          <a:xfrm>
            <a:off x="6108192" y="2980944"/>
            <a:ext cx="21214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representa este dato]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 txBox="1"/>
          <p:nvPr/>
        </p:nvSpPr>
        <p:spPr>
          <a:xfrm>
            <a:off x="6108192" y="3474720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Fuente: [autor, año]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685800" y="3950208"/>
            <a:ext cx="7772400" cy="420624"/>
          </a:xfrm>
          <a:prstGeom prst="roundRect">
            <a:avLst>
              <a:gd fmla="val 21739" name="adj"/>
            </a:avLst>
          </a:prstGeom>
          <a:solidFill>
            <a:srgbClr val="FFFFFF"/>
          </a:solidFill>
          <a:ln cap="flat" cmpd="sng" w="15875">
            <a:solidFill>
              <a:srgbClr val="A9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7" name="Google Shape;167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41248" y="404164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9"/>
          <p:cNvSpPr txBox="1"/>
          <p:nvPr/>
        </p:nvSpPr>
        <p:spPr>
          <a:xfrm>
            <a:off x="1188720" y="3950208"/>
            <a:ext cx="71323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Insight clave: </a:t>
            </a: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conclusión sacamos de estos datos para el proyecto]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Resultado de la herramienta</a:t>
            </a:r>
            <a:endParaRPr sz="3000"/>
          </a:p>
        </p:txBody>
      </p:sp>
      <p:sp>
        <p:nvSpPr>
          <p:cNvPr id="176" name="Google Shape;176;p10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[Nombre de la herramienta o prototipo]</a:t>
            </a:r>
            <a:endParaRPr sz="1500"/>
          </a:p>
        </p:txBody>
      </p:sp>
      <p:sp>
        <p:nvSpPr>
          <p:cNvPr id="177" name="Google Shape;177;p10"/>
          <p:cNvSpPr/>
          <p:nvPr/>
        </p:nvSpPr>
        <p:spPr>
          <a:xfrm>
            <a:off x="685800" y="1719072"/>
            <a:ext cx="4023360" cy="2633472"/>
          </a:xfrm>
          <a:prstGeom prst="roundRect">
            <a:avLst>
              <a:gd fmla="val 3472" name="adj"/>
            </a:avLst>
          </a:prstGeom>
          <a:solidFill>
            <a:srgbClr val="FFFFFF"/>
          </a:solidFill>
          <a:ln cap="flat" cmpd="sng" w="19050">
            <a:solidFill>
              <a:srgbClr val="A9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tool.png" id="178" name="Google Shape;17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1783080"/>
            <a:ext cx="3895344" cy="2505456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0"/>
          <p:cNvSpPr/>
          <p:nvPr/>
        </p:nvSpPr>
        <p:spPr>
          <a:xfrm>
            <a:off x="4937760" y="1719072"/>
            <a:ext cx="3520440" cy="804672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15875">
            <a:solidFill>
              <a:srgbClr val="E6EF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"/>
          <p:cNvSpPr/>
          <p:nvPr/>
        </p:nvSpPr>
        <p:spPr>
          <a:xfrm>
            <a:off x="5074920" y="187452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1" name="Google Shape;18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98364" y="19979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0"/>
          <p:cNvSpPr txBox="1"/>
          <p:nvPr/>
        </p:nvSpPr>
        <p:spPr>
          <a:xfrm>
            <a:off x="5715000" y="1719072"/>
            <a:ext cx="26517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[Resultado / funcionalidad 1]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permite hacer o qué obtuvimos]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4937760" y="2633472"/>
            <a:ext cx="3520440" cy="804672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15875">
            <a:solidFill>
              <a:srgbClr val="E6EF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"/>
          <p:cNvSpPr/>
          <p:nvPr/>
        </p:nvSpPr>
        <p:spPr>
          <a:xfrm>
            <a:off x="5074920" y="278892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5" name="Google Shape;185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98364" y="29123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0"/>
          <p:cNvSpPr txBox="1"/>
          <p:nvPr/>
        </p:nvSpPr>
        <p:spPr>
          <a:xfrm>
            <a:off x="5715000" y="2633472"/>
            <a:ext cx="26517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[Resultado / funcionalidad 2]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permite hacer o qué obtuvimos]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4937760" y="3547872"/>
            <a:ext cx="3520440" cy="804672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15875">
            <a:solidFill>
              <a:srgbClr val="E6EF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0"/>
          <p:cNvSpPr/>
          <p:nvPr/>
        </p:nvSpPr>
        <p:spPr>
          <a:xfrm>
            <a:off x="5074920" y="3703320"/>
            <a:ext cx="493776" cy="493776"/>
          </a:xfrm>
          <a:prstGeom prst="ellipse">
            <a:avLst/>
          </a:prstGeom>
          <a:solidFill>
            <a:srgbClr val="8FCB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9" name="Google Shape;189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198364" y="38267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0"/>
          <p:cNvSpPr txBox="1"/>
          <p:nvPr/>
        </p:nvSpPr>
        <p:spPr>
          <a:xfrm>
            <a:off x="5715000" y="3547872"/>
            <a:ext cx="26517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[Resultado / funcionalidad 3]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permite hacer o qué obtuvimos]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Avances según la Carta Gantt</a:t>
            </a:r>
            <a:endParaRPr sz="3000"/>
          </a:p>
        </p:txBody>
      </p:sp>
      <p:sp>
        <p:nvSpPr>
          <p:cNvPr id="198" name="Google Shape;198;p11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Programado vs. real a la fecha [dd/mm]</a:t>
            </a:r>
            <a:endParaRPr sz="1500"/>
          </a:p>
        </p:txBody>
      </p:sp>
      <p:sp>
        <p:nvSpPr>
          <p:cNvPr id="199" name="Google Shape;199;p11"/>
          <p:cNvSpPr/>
          <p:nvPr/>
        </p:nvSpPr>
        <p:spPr>
          <a:xfrm>
            <a:off x="685800" y="1700784"/>
            <a:ext cx="5440680" cy="2651760"/>
          </a:xfrm>
          <a:prstGeom prst="roundRect">
            <a:avLst>
              <a:gd fmla="val 3448" name="adj"/>
            </a:avLst>
          </a:prstGeom>
          <a:solidFill>
            <a:srgbClr val="FFFFFF"/>
          </a:solidFill>
          <a:ln cap="flat" cmpd="sng" w="15875">
            <a:solidFill>
              <a:srgbClr val="E6EF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1"/>
          <p:cNvSpPr/>
          <p:nvPr/>
        </p:nvSpPr>
        <p:spPr>
          <a:xfrm>
            <a:off x="2926080" y="1810512"/>
            <a:ext cx="274320" cy="109728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 txBox="1"/>
          <p:nvPr/>
        </p:nvSpPr>
        <p:spPr>
          <a:xfrm>
            <a:off x="3255264" y="17739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Programado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4251960" y="1810512"/>
            <a:ext cx="274320" cy="109728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1"/>
          <p:cNvSpPr txBox="1"/>
          <p:nvPr/>
        </p:nvSpPr>
        <p:spPr>
          <a:xfrm>
            <a:off x="4581144" y="17739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1"/>
          <p:cNvSpPr txBox="1"/>
          <p:nvPr/>
        </p:nvSpPr>
        <p:spPr>
          <a:xfrm>
            <a:off x="868680" y="2084832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[Actividad 1]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2514600" y="2139696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4F7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1"/>
          <p:cNvSpPr/>
          <p:nvPr/>
        </p:nvSpPr>
        <p:spPr>
          <a:xfrm>
            <a:off x="2514600" y="2139696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1"/>
          <p:cNvSpPr/>
          <p:nvPr/>
        </p:nvSpPr>
        <p:spPr>
          <a:xfrm>
            <a:off x="2514600" y="2194560"/>
            <a:ext cx="2697480" cy="146304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"/>
          <p:cNvSpPr txBox="1"/>
          <p:nvPr/>
        </p:nvSpPr>
        <p:spPr>
          <a:xfrm>
            <a:off x="5285232" y="2084832"/>
            <a:ext cx="749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1"/>
          <p:cNvSpPr txBox="1"/>
          <p:nvPr/>
        </p:nvSpPr>
        <p:spPr>
          <a:xfrm>
            <a:off x="868680" y="2532888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[Actividad 2]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2514600" y="2587752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4F7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"/>
          <p:cNvSpPr/>
          <p:nvPr/>
        </p:nvSpPr>
        <p:spPr>
          <a:xfrm>
            <a:off x="2514600" y="2587752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1"/>
          <p:cNvSpPr/>
          <p:nvPr/>
        </p:nvSpPr>
        <p:spPr>
          <a:xfrm>
            <a:off x="2514600" y="2642616"/>
            <a:ext cx="2697480" cy="146304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1"/>
          <p:cNvSpPr txBox="1"/>
          <p:nvPr/>
        </p:nvSpPr>
        <p:spPr>
          <a:xfrm>
            <a:off x="5285232" y="2532888"/>
            <a:ext cx="749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 txBox="1"/>
          <p:nvPr/>
        </p:nvSpPr>
        <p:spPr>
          <a:xfrm>
            <a:off x="868680" y="2980944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[Actividad 3]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1"/>
          <p:cNvSpPr/>
          <p:nvPr/>
        </p:nvSpPr>
        <p:spPr>
          <a:xfrm>
            <a:off x="2514600" y="3035808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4F7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1"/>
          <p:cNvSpPr/>
          <p:nvPr/>
        </p:nvSpPr>
        <p:spPr>
          <a:xfrm>
            <a:off x="2514600" y="3035808"/>
            <a:ext cx="2157984" cy="25603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1"/>
          <p:cNvSpPr/>
          <p:nvPr/>
        </p:nvSpPr>
        <p:spPr>
          <a:xfrm>
            <a:off x="2514600" y="3090672"/>
            <a:ext cx="1888236" cy="146304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"/>
          <p:cNvSpPr txBox="1"/>
          <p:nvPr/>
        </p:nvSpPr>
        <p:spPr>
          <a:xfrm>
            <a:off x="5285232" y="2980944"/>
            <a:ext cx="749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1"/>
          <p:cNvSpPr txBox="1"/>
          <p:nvPr/>
        </p:nvSpPr>
        <p:spPr>
          <a:xfrm>
            <a:off x="868680" y="3429000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[Actividad 4]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2514600" y="3483864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4F7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1"/>
          <p:cNvSpPr/>
          <p:nvPr/>
        </p:nvSpPr>
        <p:spPr>
          <a:xfrm>
            <a:off x="2514600" y="3483864"/>
            <a:ext cx="1618488" cy="25603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1"/>
          <p:cNvSpPr/>
          <p:nvPr/>
        </p:nvSpPr>
        <p:spPr>
          <a:xfrm>
            <a:off x="2514600" y="3538728"/>
            <a:ext cx="1213866" cy="146304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"/>
          <p:cNvSpPr txBox="1"/>
          <p:nvPr/>
        </p:nvSpPr>
        <p:spPr>
          <a:xfrm>
            <a:off x="5285232" y="3429000"/>
            <a:ext cx="749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1"/>
          <p:cNvSpPr txBox="1"/>
          <p:nvPr/>
        </p:nvSpPr>
        <p:spPr>
          <a:xfrm>
            <a:off x="868680" y="3877056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[Actividad 5]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1"/>
          <p:cNvSpPr/>
          <p:nvPr/>
        </p:nvSpPr>
        <p:spPr>
          <a:xfrm>
            <a:off x="2514600" y="3931920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4F7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1"/>
          <p:cNvSpPr/>
          <p:nvPr/>
        </p:nvSpPr>
        <p:spPr>
          <a:xfrm>
            <a:off x="2514600" y="3931920"/>
            <a:ext cx="809244" cy="25603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1"/>
          <p:cNvSpPr/>
          <p:nvPr/>
        </p:nvSpPr>
        <p:spPr>
          <a:xfrm>
            <a:off x="2514600" y="3986784"/>
            <a:ext cx="269748" cy="146304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 txBox="1"/>
          <p:nvPr/>
        </p:nvSpPr>
        <p:spPr>
          <a:xfrm>
            <a:off x="5285232" y="3877056"/>
            <a:ext cx="749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6355080" y="1700784"/>
            <a:ext cx="2103120" cy="2651760"/>
          </a:xfrm>
          <a:prstGeom prst="roundRect">
            <a:avLst>
              <a:gd fmla="val 4348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clover.png" id="230" name="Google Shape;23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6600" y="182880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1"/>
          <p:cNvSpPr txBox="1"/>
          <p:nvPr/>
        </p:nvSpPr>
        <p:spPr>
          <a:xfrm>
            <a:off x="6355080" y="2542032"/>
            <a:ext cx="210312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 Rounded"/>
              <a:buNone/>
            </a:pPr>
            <a:r>
              <a:rPr b="1" i="0" lang="en-US" sz="36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1"/>
          <p:cNvSpPr txBox="1"/>
          <p:nvPr/>
        </p:nvSpPr>
        <p:spPr>
          <a:xfrm>
            <a:off x="6492240" y="3127248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avance total del proyecto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1"/>
          <p:cNvSpPr/>
          <p:nvPr/>
        </p:nvSpPr>
        <p:spPr>
          <a:xfrm>
            <a:off x="6675120" y="3730752"/>
            <a:ext cx="1463040" cy="329184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1"/>
          <p:cNvSpPr txBox="1"/>
          <p:nvPr/>
        </p:nvSpPr>
        <p:spPr>
          <a:xfrm>
            <a:off x="6675120" y="3730752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✓ [Al día]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1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2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Dificultades y cómo las resolvimos</a:t>
            </a:r>
            <a:endParaRPr sz="3000"/>
          </a:p>
        </p:txBody>
      </p:sp>
      <p:sp>
        <p:nvSpPr>
          <p:cNvPr id="242" name="Google Shape;242;p12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Lo que nos costó y lo que aprendimos</a:t>
            </a:r>
            <a:endParaRPr sz="1500"/>
          </a:p>
        </p:txBody>
      </p:sp>
      <p:sp>
        <p:nvSpPr>
          <p:cNvPr id="243" name="Google Shape;243;p12"/>
          <p:cNvSpPr/>
          <p:nvPr/>
        </p:nvSpPr>
        <p:spPr>
          <a:xfrm>
            <a:off x="685800" y="17190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2"/>
          <p:cNvSpPr/>
          <p:nvPr/>
        </p:nvSpPr>
        <p:spPr>
          <a:xfrm>
            <a:off x="822960" y="187452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5" name="Google Shape;24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404" y="19979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12"/>
          <p:cNvSpPr txBox="1"/>
          <p:nvPr/>
        </p:nvSpPr>
        <p:spPr>
          <a:xfrm>
            <a:off x="1463040" y="17190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Dificultad 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problema tuvimos]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7" name="Google Shape;24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16552" y="198424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2"/>
          <p:cNvSpPr/>
          <p:nvPr/>
        </p:nvSpPr>
        <p:spPr>
          <a:xfrm>
            <a:off x="4846320" y="17190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2"/>
          <p:cNvSpPr/>
          <p:nvPr/>
        </p:nvSpPr>
        <p:spPr>
          <a:xfrm>
            <a:off x="4983480" y="187452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0" name="Google Shape;25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06924" y="19979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2"/>
          <p:cNvSpPr txBox="1"/>
          <p:nvPr/>
        </p:nvSpPr>
        <p:spPr>
          <a:xfrm>
            <a:off x="5623560" y="17190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Cómo lo resolvimos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[Acción concreta que tomamos]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685800" y="26334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2"/>
          <p:cNvSpPr/>
          <p:nvPr/>
        </p:nvSpPr>
        <p:spPr>
          <a:xfrm>
            <a:off x="822960" y="278892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4" name="Google Shape;25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404" y="29123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2"/>
          <p:cNvSpPr txBox="1"/>
          <p:nvPr/>
        </p:nvSpPr>
        <p:spPr>
          <a:xfrm>
            <a:off x="1463040" y="26334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Dificultad 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problema tuvimos]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6" name="Google Shape;256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16552" y="289864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12"/>
          <p:cNvSpPr/>
          <p:nvPr/>
        </p:nvSpPr>
        <p:spPr>
          <a:xfrm>
            <a:off x="4846320" y="26334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2"/>
          <p:cNvSpPr/>
          <p:nvPr/>
        </p:nvSpPr>
        <p:spPr>
          <a:xfrm>
            <a:off x="4983480" y="278892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9" name="Google Shape;25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06924" y="29123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12"/>
          <p:cNvSpPr txBox="1"/>
          <p:nvPr/>
        </p:nvSpPr>
        <p:spPr>
          <a:xfrm>
            <a:off x="5623560" y="26334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Cómo lo resolvimos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[Acción concreta que tomamos]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2"/>
          <p:cNvSpPr/>
          <p:nvPr/>
        </p:nvSpPr>
        <p:spPr>
          <a:xfrm>
            <a:off x="685800" y="35478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2"/>
          <p:cNvSpPr/>
          <p:nvPr/>
        </p:nvSpPr>
        <p:spPr>
          <a:xfrm>
            <a:off x="822960" y="370332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3" name="Google Shape;26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404" y="38267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12"/>
          <p:cNvSpPr txBox="1"/>
          <p:nvPr/>
        </p:nvSpPr>
        <p:spPr>
          <a:xfrm>
            <a:off x="1463040" y="35478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Dificultad 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[Qué problema tuvimos]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65" name="Google Shape;265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16552" y="381304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2"/>
          <p:cNvSpPr/>
          <p:nvPr/>
        </p:nvSpPr>
        <p:spPr>
          <a:xfrm>
            <a:off x="4846320" y="35478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2"/>
          <p:cNvSpPr/>
          <p:nvPr/>
        </p:nvSpPr>
        <p:spPr>
          <a:xfrm>
            <a:off x="4983480" y="370332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8" name="Google Shape;268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06924" y="38267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2"/>
          <p:cNvSpPr txBox="1"/>
          <p:nvPr/>
        </p:nvSpPr>
        <p:spPr>
          <a:xfrm>
            <a:off x="5623560" y="35478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Cómo lo resolvimos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[Acción concreta que tomamos]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2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3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¡Gracias por escuchar! </a:t>
            </a:r>
            <a:r>
              <a:rPr b="1" lang="en-US" sz="2000">
                <a:solidFill>
                  <a:schemeClr val="accent1"/>
                </a:solidFill>
                <a:latin typeface="Arial Rounded"/>
                <a:ea typeface="Arial Rounded"/>
                <a:cs typeface="Arial Rounded"/>
                <a:sym typeface="Arial Rounded"/>
              </a:rPr>
              <a:t>ˆ•ᴗ•ˆ</a:t>
            </a:r>
            <a:endParaRPr sz="3000"/>
          </a:p>
        </p:txBody>
      </p:sp>
      <p:sp>
        <p:nvSpPr>
          <p:cNvPr id="277" name="Google Shape;277;p13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Envejecer Mejor · [Integrantes]</a:t>
            </a:r>
            <a:endParaRPr sz="1500"/>
          </a:p>
        </p:txBody>
      </p:sp>
      <p:sp>
        <p:nvSpPr>
          <p:cNvPr id="278" name="Google Shape;278;p13"/>
          <p:cNvSpPr txBox="1"/>
          <p:nvPr/>
        </p:nvSpPr>
        <p:spPr>
          <a:xfrm>
            <a:off x="685800" y="1700784"/>
            <a:ext cx="7772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Próximos pasos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/>
          <p:nvPr/>
        </p:nvSpPr>
        <p:spPr>
          <a:xfrm>
            <a:off x="685800" y="2121408"/>
            <a:ext cx="2395728" cy="1325880"/>
          </a:xfrm>
          <a:prstGeom prst="roundRect">
            <a:avLst>
              <a:gd fmla="val 6897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clover.png" id="280" name="Google Shape;2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2402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3"/>
          <p:cNvSpPr txBox="1"/>
          <p:nvPr/>
        </p:nvSpPr>
        <p:spPr>
          <a:xfrm>
            <a:off x="1344168" y="22402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 Rounded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3"/>
          <p:cNvSpPr txBox="1"/>
          <p:nvPr/>
        </p:nvSpPr>
        <p:spPr>
          <a:xfrm>
            <a:off x="850392" y="27432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[Próximo hito 1]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[Fecha según Gantt]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3"/>
          <p:cNvSpPr/>
          <p:nvPr/>
        </p:nvSpPr>
        <p:spPr>
          <a:xfrm>
            <a:off x="3328416" y="2121408"/>
            <a:ext cx="2395728" cy="1325880"/>
          </a:xfrm>
          <a:prstGeom prst="roundRect">
            <a:avLst>
              <a:gd fmla="val 6897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clover.png" id="284" name="Google Shape;2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65576" y="22402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13"/>
          <p:cNvSpPr txBox="1"/>
          <p:nvPr/>
        </p:nvSpPr>
        <p:spPr>
          <a:xfrm>
            <a:off x="3986784" y="22402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 Rounded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3"/>
          <p:cNvSpPr txBox="1"/>
          <p:nvPr/>
        </p:nvSpPr>
        <p:spPr>
          <a:xfrm>
            <a:off x="3493008" y="27432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[Próximo hito 2]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[Fecha según Gantt]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3"/>
          <p:cNvSpPr/>
          <p:nvPr/>
        </p:nvSpPr>
        <p:spPr>
          <a:xfrm>
            <a:off x="5971032" y="2121408"/>
            <a:ext cx="2395728" cy="1325880"/>
          </a:xfrm>
          <a:prstGeom prst="roundRect">
            <a:avLst>
              <a:gd fmla="val 6897" name="adj"/>
            </a:avLst>
          </a:prstGeom>
          <a:solidFill>
            <a:srgbClr val="E3F3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clover.png" id="288" name="Google Shape;28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08192" y="22402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3"/>
          <p:cNvSpPr txBox="1"/>
          <p:nvPr/>
        </p:nvSpPr>
        <p:spPr>
          <a:xfrm>
            <a:off x="6629400" y="22402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 Rounded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3"/>
          <p:cNvSpPr txBox="1"/>
          <p:nvPr/>
        </p:nvSpPr>
        <p:spPr>
          <a:xfrm>
            <a:off x="6135624" y="27432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[Próximo hito 3]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[Fecha según Gantt]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2011680" y="3730752"/>
            <a:ext cx="2423160" cy="43891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3"/>
          <p:cNvSpPr txBox="1"/>
          <p:nvPr/>
        </p:nvSpPr>
        <p:spPr>
          <a:xfrm>
            <a:off x="2011680" y="3730752"/>
            <a:ext cx="2423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 Rounded"/>
              <a:buNone/>
            </a:pPr>
            <a:r>
              <a:rPr b="1" i="0" lang="en-US" sz="15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¿Preguntas? ♡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4709160" y="3730752"/>
            <a:ext cx="2423160" cy="438912"/>
          </a:xfrm>
          <a:prstGeom prst="roundRect">
            <a:avLst>
              <a:gd fmla="val 50000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3"/>
          <p:cNvSpPr txBox="1"/>
          <p:nvPr/>
        </p:nvSpPr>
        <p:spPr>
          <a:xfrm>
            <a:off x="4709160" y="3730752"/>
            <a:ext cx="2423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[correo / contacto]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3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Envejecer Mejor Pastel">
  <a:themeElements>
    <a:clrScheme name="Envejecer Mejor Pastel">
      <a:dk1>
        <a:srgbClr val="55722A"/>
      </a:dk1>
      <a:lt1>
        <a:srgbClr val="FFFFFF"/>
      </a:lt1>
      <a:dk2>
        <a:srgbClr val="D9628F"/>
      </a:dk2>
      <a:lt2>
        <a:srgbClr val="FCFDF1"/>
      </a:lt2>
      <a:accent1>
        <a:srgbClr val="F59FC1"/>
      </a:accent1>
      <a:accent2>
        <a:srgbClr val="B4D97A"/>
      </a:accent2>
      <a:accent3>
        <a:srgbClr val="8FCBEA"/>
      </a:accent3>
      <a:accent4>
        <a:srgbClr val="FFE1EC"/>
      </a:accent4>
      <a:accent5>
        <a:srgbClr val="E6F3C9"/>
      </a:accent5>
      <a:accent6>
        <a:srgbClr val="F5C84C"/>
      </a:accent6>
      <a:hlink>
        <a:srgbClr val="D9628F"/>
      </a:hlink>
      <a:folHlink>
        <a:srgbClr val="8FCBE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Envejecer Mejor Pastel">
  <a:themeElements>
    <a:clrScheme name="Envejecer Mejor Pastel">
      <a:dk1>
        <a:srgbClr val="55722A"/>
      </a:dk1>
      <a:lt1>
        <a:srgbClr val="FFFFFF"/>
      </a:lt1>
      <a:dk2>
        <a:srgbClr val="D9628F"/>
      </a:dk2>
      <a:lt2>
        <a:srgbClr val="FCFDF1"/>
      </a:lt2>
      <a:accent1>
        <a:srgbClr val="F59FC1"/>
      </a:accent1>
      <a:accent2>
        <a:srgbClr val="B4D97A"/>
      </a:accent2>
      <a:accent3>
        <a:srgbClr val="8FCBEA"/>
      </a:accent3>
      <a:accent4>
        <a:srgbClr val="FFE1EC"/>
      </a:accent4>
      <a:accent5>
        <a:srgbClr val="E6F3C9"/>
      </a:accent5>
      <a:accent6>
        <a:srgbClr val="F5C84C"/>
      </a:accent6>
      <a:hlink>
        <a:srgbClr val="D9628F"/>
      </a:hlink>
      <a:folHlink>
        <a:srgbClr val="8FCBE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