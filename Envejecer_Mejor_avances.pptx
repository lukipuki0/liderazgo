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~15 s. Saludo y presentación del equipo. Nombrar el proyecto Envejecer Mejor y decir en una frase de qué se trata. Recordar: la presentación completa dura máximo 5 minutos.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~15 s. Mostrar rápidamente el recorrido: temática, hitos, datos, herramienta, avance según Gantt y dificultades. No leer todo: es solo la ruta.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~40 s. Explicar la temática: qué problema existe en torno al envejecimiento, por qué importa y a quién afecta. Cerrar con el objetivo del proyecto en una sola frase.</a:t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~45 s. Contar solo los hitos MÁS importantes (no todas las tareas). Para cada uno: qué era y qué evidencia/entregable tenemos. Cambiar el estado a 'Logrado' o 'En curso' según corresponda.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~45 s. Presentar los 3 datos más potentes (estadísticas, encuestas, entrevistas). Decir la fuente en voz alta y conectar cada dato con el problema. Terminar con el insight: qué decisión tomamos gracias a estos datos.</a:t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~45 s. Mostrar la captura de la herramienta (o prototipo) y explicar qué resultado concreto entrega. Mencionar 2–3 funcionalidades o resultados, no más.</a:t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~40 s. Comparar lo programado en la Carta Gantt con lo realmente hecho. Ajustar el largo de las barras: rosa = programado, verde = real. Si hay atraso, decir cuánto y por qué (eso se conecta con la siguiente lámina). Cambiar el estado general a 'Al día' o 'Atrasado'.</a:t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~40 s. Este punto se evalúa explícitamente: mostrar las dificultades reales y CÓMO se resolvieron (o cómo se están resolviendo). Ser honestos y concretos.</a:t>
            </a:r>
            <a:endParaRPr/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~15 s. Cerrar con los próximos pasos según la Carta Gantt y abrir a preguntas. Revisar que el total no supere los 5 minutos.</a:t>
            </a:r>
            <a:endParaRPr/>
          </a:p>
        </p:txBody>
      </p:sp>
      <p:sp>
        <p:nvSpPr>
          <p:cNvPr id="274" name="Google Shape;2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3566160" y="45628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Rounded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Envejecer Mejor 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3566160" y="45628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Rounded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Envejecer Mejor 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Rounded"/>
              <a:buNone/>
              <a:defRPr b="1" i="0" sz="30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731520" y="126187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0" lvl="1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0" lvl="2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0" lvl="3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0" lvl="4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0" lvl="5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indent="0" lvl="6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indent="0" lvl="7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indent="0" lvl="8" marL="0" marR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Relationship Id="rId5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5"/>
          <p:cNvCxnSpPr/>
          <p:nvPr/>
        </p:nvCxnSpPr>
        <p:spPr>
          <a:xfrm>
            <a:off x="2651760" y="658368"/>
            <a:ext cx="0" cy="3840480"/>
          </a:xfrm>
          <a:prstGeom prst="straightConnector1">
            <a:avLst/>
          </a:prstGeom>
          <a:noFill/>
          <a:ln cap="flat" cmpd="sng" w="25400">
            <a:solidFill>
              <a:srgbClr val="A9D06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5"/>
          <p:cNvSpPr/>
          <p:nvPr/>
        </p:nvSpPr>
        <p:spPr>
          <a:xfrm>
            <a:off x="800175" y="711877"/>
            <a:ext cx="1417200" cy="1417200"/>
          </a:xfrm>
          <a:prstGeom prst="ellipse">
            <a:avLst/>
          </a:prstGeom>
          <a:solidFill>
            <a:srgbClr val="FFFFFF"/>
          </a:solidFill>
          <a:ln cap="flat" cmpd="sng" w="27975">
            <a:solidFill>
              <a:srgbClr val="F59F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500" lIns="80500" spcFirstLastPara="1" rIns="80500" wrap="square" tIns="8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de Envejecer Mejor" id="26" name="Google Shape;26;p5"/>
          <p:cNvPicPr preferRelativeResize="0"/>
          <p:nvPr/>
        </p:nvPicPr>
        <p:blipFill rotWithShape="1">
          <a:blip r:embed="rId3">
            <a:alphaModFix/>
          </a:blip>
          <a:srcRect b="11250" l="11250" r="11250" t="11250"/>
          <a:stretch/>
        </p:blipFill>
        <p:spPr>
          <a:xfrm>
            <a:off x="840439" y="752142"/>
            <a:ext cx="1336800" cy="13368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img/pill_cover.png" id="27" name="Google Shape;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" y="2228550"/>
            <a:ext cx="19659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/>
        </p:nvSpPr>
        <p:spPr>
          <a:xfrm>
            <a:off x="640080" y="222855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</a:pPr>
            <a:r>
              <a:rPr b="1" lang="en-US" sz="12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Ulysses Barreto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7984" y="2310846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pill_cover.png" id="30" name="Google Shape;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" y="2685750"/>
            <a:ext cx="19659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/>
        </p:nvSpPr>
        <p:spPr>
          <a:xfrm>
            <a:off x="640080" y="268575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</a:pPr>
            <a:r>
              <a:rPr b="1" lang="en-US" sz="12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Lucas Erazo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7984" y="2768046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pill_cover.png" id="33" name="Google Shape;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" y="3142950"/>
            <a:ext cx="19659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/>
        </p:nvSpPr>
        <p:spPr>
          <a:xfrm>
            <a:off x="640080" y="314295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</a:pPr>
            <a:r>
              <a:rPr b="1" lang="en-US" sz="12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Valentina Guzmán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7984" y="3225246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pill_cover.png" id="36" name="Google Shape;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" y="3600150"/>
            <a:ext cx="19659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/>
        </p:nvSpPr>
        <p:spPr>
          <a:xfrm>
            <a:off x="640080" y="360015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</a:pPr>
            <a:r>
              <a:rPr b="1" lang="en-US" sz="12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Maximiliano Miño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57984" y="368244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2788920" y="73152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 Rounded"/>
              <a:buNone/>
            </a:pPr>
            <a:r>
              <a:rPr b="1" i="0" lang="en-US" sz="38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Envejecer Mejor </a:t>
            </a:r>
            <a:r>
              <a:rPr b="1" i="0" lang="en-US" sz="2200" u="none" cap="none" strike="noStrike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ˆ•ᴗ•ˆ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2788920" y="1389888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presentación de avances · Taller de Liderazgo · </a:t>
            </a:r>
            <a:r>
              <a:rPr b="1" lang="en-US" sz="13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2 de Noviembre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2971800" y="1783080"/>
            <a:ext cx="2697480" cy="365760"/>
          </a:xfrm>
          <a:prstGeom prst="roundRect">
            <a:avLst>
              <a:gd fmla="val 50000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/>
        </p:nvSpPr>
        <p:spPr>
          <a:xfrm>
            <a:off x="2971800" y="178308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Grupo 11 / </a:t>
            </a:r>
            <a:r>
              <a:rPr b="1" lang="en-US" sz="13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Paralelo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852160" y="1783080"/>
            <a:ext cx="2697480" cy="365760"/>
          </a:xfrm>
          <a:prstGeom prst="roundRect">
            <a:avLst>
              <a:gd fmla="val 50000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 txBox="1"/>
          <p:nvPr/>
        </p:nvSpPr>
        <p:spPr>
          <a:xfrm>
            <a:off x="5852160" y="178308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Prof. María José Herrera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2971800" y="2286000"/>
            <a:ext cx="557784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5875">
            <a:solidFill>
              <a:srgbClr val="A9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/>
        </p:nvSpPr>
        <p:spPr>
          <a:xfrm>
            <a:off x="3108960" y="2286000"/>
            <a:ext cx="5303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Queremos que las personas de 40 a 59 años conozcan los hábitos que ayudan a llegar sanas a la vejez  &lt;3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2944368" y="3154680"/>
            <a:ext cx="1819656" cy="1243584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F2C2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ph_thumb.png" id="48" name="Google Shape;4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80944" y="3191256"/>
            <a:ext cx="1746504" cy="117043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4832604" y="3154680"/>
            <a:ext cx="1819656" cy="1243584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F2C2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ph_thumb.png" id="50" name="Google Shape;5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69180" y="3191256"/>
            <a:ext cx="1746504" cy="117043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6720840" y="3154680"/>
            <a:ext cx="1819656" cy="1243584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F2C2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ph_thumb.png" id="52" name="Google Shape;5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57416" y="3191256"/>
            <a:ext cx="1746504" cy="1170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pill_cover.png" id="53" name="Google Shape;5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867" y="4057354"/>
            <a:ext cx="19659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/>
          <p:nvPr/>
        </p:nvSpPr>
        <p:spPr>
          <a:xfrm>
            <a:off x="640167" y="4057354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</a:pPr>
            <a:r>
              <a:rPr b="1" lang="en-US" sz="12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Fabián Solís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8072" y="4139650"/>
            <a:ext cx="201168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type="title"/>
          </p:nvPr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Rounded"/>
              <a:buNone/>
            </a:pPr>
            <a:r>
              <a:rPr b="1" lang="en-US" sz="30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¿Qué veremos hoy?</a:t>
            </a:r>
            <a:endParaRPr sz="3000"/>
          </a:p>
        </p:txBody>
      </p:sp>
      <p:sp>
        <p:nvSpPr>
          <p:cNvPr id="62" name="Google Shape;62;p6"/>
          <p:cNvSpPr txBox="1"/>
          <p:nvPr>
            <p:ph idx="1" type="body"/>
          </p:nvPr>
        </p:nvSpPr>
        <p:spPr>
          <a:xfrm>
            <a:off x="731520" y="126187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</a:rPr>
              <a:t>6 paradas en 5 minutos ♡</a:t>
            </a:r>
            <a:endParaRPr sz="1500"/>
          </a:p>
        </p:txBody>
      </p:sp>
      <p:pic>
        <p:nvPicPr>
          <p:cNvPr descr="img/pill_agenda.png" id="63" name="Google Shape;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810512"/>
            <a:ext cx="370332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/>
          <p:nvPr/>
        </p:nvSpPr>
        <p:spPr>
          <a:xfrm>
            <a:off x="932688" y="1810512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01  Temática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7640" y="1956816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pill_agenda.png" id="66" name="Google Shape;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596896"/>
            <a:ext cx="370332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02  Hitos logrados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7640" y="274320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pill_agenda.pn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383280"/>
            <a:ext cx="370332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 txBox="1"/>
          <p:nvPr/>
        </p:nvSpPr>
        <p:spPr>
          <a:xfrm>
            <a:off x="932688" y="338328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03  Datos investigación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77640" y="3529584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pill_agenda.png"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1810512"/>
            <a:ext cx="370332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 txBox="1"/>
          <p:nvPr/>
        </p:nvSpPr>
        <p:spPr>
          <a:xfrm>
            <a:off x="4910328" y="1810512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04  Resultado herramienta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55280" y="1956816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pill_agenda.png"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2596896"/>
            <a:ext cx="370332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/>
          <p:nvPr/>
        </p:nvSpPr>
        <p:spPr>
          <a:xfrm>
            <a:off x="4910328" y="2596896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05  Avances vs. Gantt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55280" y="274320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pill_agenda.png"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3383280"/>
            <a:ext cx="370332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 txBox="1"/>
          <p:nvPr/>
        </p:nvSpPr>
        <p:spPr>
          <a:xfrm>
            <a:off x="4910328" y="338328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06  Dificultades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5280" y="35295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 txBox="1"/>
          <p:nvPr>
            <p:ph idx="4294967295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rPr>
              <a:t>‹#›</a:t>
            </a:fld>
            <a:endParaRPr b="1" i="0" sz="1100" u="none" cap="none" strike="noStrike">
              <a:solidFill>
                <a:srgbClr val="55722A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type="title"/>
          </p:nvPr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Rounded"/>
              <a:buNone/>
            </a:pPr>
            <a:r>
              <a:rPr b="1" lang="en-US" sz="30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Temática del proyecto</a:t>
            </a:r>
            <a:endParaRPr sz="3000"/>
          </a:p>
        </p:txBody>
      </p:sp>
      <p:sp>
        <p:nvSpPr>
          <p:cNvPr id="88" name="Google Shape;88;p7"/>
          <p:cNvSpPr txBox="1"/>
          <p:nvPr>
            <p:ph idx="1" type="body"/>
          </p:nvPr>
        </p:nvSpPr>
        <p:spPr>
          <a:xfrm>
            <a:off x="731520" y="126187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</a:rPr>
              <a:t>Envejecer Mejor busca que más personas lleguen sanas a la tercera edad</a:t>
            </a:r>
            <a:endParaRPr sz="1500"/>
          </a:p>
        </p:txBody>
      </p:sp>
      <p:sp>
        <p:nvSpPr>
          <p:cNvPr id="89" name="Google Shape;89;p7"/>
          <p:cNvSpPr/>
          <p:nvPr/>
        </p:nvSpPr>
        <p:spPr>
          <a:xfrm>
            <a:off x="685800" y="1719072"/>
            <a:ext cx="2697480" cy="2633472"/>
          </a:xfrm>
          <a:prstGeom prst="roundRect">
            <a:avLst>
              <a:gd fmla="val 3472" name="adj"/>
            </a:avLst>
          </a:prstGeom>
          <a:solidFill>
            <a:srgbClr val="FFFFFF"/>
          </a:solidFill>
          <a:ln cap="flat" cmpd="sng" w="19050">
            <a:solidFill>
              <a:srgbClr val="F59F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ph_tema.png" id="90" name="Google Shape;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783080"/>
            <a:ext cx="2569464" cy="250545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/>
          <p:nvPr/>
        </p:nvSpPr>
        <p:spPr>
          <a:xfrm>
            <a:off x="3611880" y="1719072"/>
            <a:ext cx="4846320" cy="804672"/>
          </a:xfrm>
          <a:prstGeom prst="roundRect">
            <a:avLst>
              <a:gd fmla="val 11364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3749040" y="1874520"/>
            <a:ext cx="493776" cy="493776"/>
          </a:xfrm>
          <a:prstGeom prst="ellipse">
            <a:avLst/>
          </a:prstGeom>
          <a:solidFill>
            <a:srgbClr val="F59F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2484" y="19979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 txBox="1"/>
          <p:nvPr/>
        </p:nvSpPr>
        <p:spPr>
          <a:xfrm>
            <a:off x="4407408" y="1719072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 Rounded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El problema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Muchos llegan a la vejez con enfermedades crónicas que se podían prevenir con hábitos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611880" y="2633472"/>
            <a:ext cx="4846320" cy="804672"/>
          </a:xfrm>
          <a:prstGeom prst="roundRect">
            <a:avLst>
              <a:gd fmla="val 11364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3749040" y="2788920"/>
            <a:ext cx="493776" cy="493776"/>
          </a:xfrm>
          <a:prstGeom prst="ellipse">
            <a:avLst/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2484" y="29123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 txBox="1"/>
          <p:nvPr/>
        </p:nvSpPr>
        <p:spPr>
          <a:xfrm>
            <a:off x="4407408" y="2633472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 Rounded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Nuestro objetivo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Informar qué hábitos ayudan a envejecer sano, con material respaldado por evidencia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611880" y="3547872"/>
            <a:ext cx="4846320" cy="804672"/>
          </a:xfrm>
          <a:prstGeom prst="roundRect">
            <a:avLst>
              <a:gd fmla="val 11364" name="adj"/>
            </a:avLst>
          </a:prstGeom>
          <a:solidFill>
            <a:srgbClr val="E3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3749040" y="3703320"/>
            <a:ext cx="493776" cy="493776"/>
          </a:xfrm>
          <a:prstGeom prst="ellipse">
            <a:avLst/>
          </a:prstGeom>
          <a:solidFill>
            <a:srgbClr val="8FCB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2484" y="38267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/>
          <p:nvPr/>
        </p:nvSpPr>
        <p:spPr>
          <a:xfrm>
            <a:off x="4407408" y="3547872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 Rounded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¿Para quién?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Personas de 40 a 59 años y, en segundo lugar, mayores de 60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>
            <p:ph idx="4294967295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rPr>
              <a:t>‹#›</a:t>
            </a:fld>
            <a:endParaRPr b="1" i="0" sz="1100" u="none" cap="none" strike="noStrike">
              <a:solidFill>
                <a:srgbClr val="55722A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Rounded"/>
              <a:buNone/>
            </a:pPr>
            <a:r>
              <a:rPr b="1" lang="en-US" sz="30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Hitos más importantes avanzados</a:t>
            </a:r>
            <a:endParaRPr sz="3000"/>
          </a:p>
        </p:txBody>
      </p:sp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731520" y="126187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</a:rPr>
              <a:t>Lo que ya logramos hasta hoy</a:t>
            </a:r>
            <a:endParaRPr sz="1500"/>
          </a:p>
        </p:txBody>
      </p:sp>
      <p:cxnSp>
        <p:nvCxnSpPr>
          <p:cNvPr id="111" name="Google Shape;111;p8"/>
          <p:cNvCxnSpPr/>
          <p:nvPr/>
        </p:nvCxnSpPr>
        <p:spPr>
          <a:xfrm>
            <a:off x="1097280" y="2395728"/>
            <a:ext cx="6949440" cy="0"/>
          </a:xfrm>
          <a:prstGeom prst="straightConnector1">
            <a:avLst/>
          </a:prstGeom>
          <a:noFill/>
          <a:ln cap="flat" cmpd="sng" w="38100">
            <a:solidFill>
              <a:srgbClr val="A9D06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2" name="Google Shape;112;p8"/>
          <p:cNvSpPr/>
          <p:nvPr/>
        </p:nvSpPr>
        <p:spPr>
          <a:xfrm>
            <a:off x="914400" y="1700784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A9D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 txBox="1"/>
          <p:nvPr/>
        </p:nvSpPr>
        <p:spPr>
          <a:xfrm>
            <a:off x="914400" y="170078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 Rounded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30 sep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clover.png" id="114" name="Google Shape;1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2121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576072" y="2816352"/>
            <a:ext cx="1865376" cy="1536192"/>
          </a:xfrm>
          <a:prstGeom prst="roundRect">
            <a:avLst>
              <a:gd fmla="val 5952" name="adj"/>
            </a:avLst>
          </a:prstGeom>
          <a:solidFill>
            <a:srgbClr val="FFFFFF"/>
          </a:solidFill>
          <a:ln cap="flat" cmpd="sng" w="15875">
            <a:solidFill>
              <a:srgbClr val="C9E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685800" y="288036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 Rounded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Planificación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Tareas, Gantt, matriz RACI y horas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941832" y="3931920"/>
            <a:ext cx="1133856" cy="292608"/>
          </a:xfrm>
          <a:prstGeom prst="roundRect">
            <a:avLst>
              <a:gd fmla="val 50000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941832" y="3931920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 Rounded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✓ Logrado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2953512" y="1700784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A9D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 txBox="1"/>
          <p:nvPr/>
        </p:nvSpPr>
        <p:spPr>
          <a:xfrm>
            <a:off x="2953512" y="170078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 Rounded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5 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clover.png"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3552" y="2121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2615184" y="2816352"/>
            <a:ext cx="1865376" cy="1536192"/>
          </a:xfrm>
          <a:prstGeom prst="roundRect">
            <a:avLst>
              <a:gd fmla="val 5952" name="adj"/>
            </a:avLst>
          </a:prstGeom>
          <a:solidFill>
            <a:srgbClr val="FFFFFF"/>
          </a:solidFill>
          <a:ln cap="flat" cmpd="sng" w="15875">
            <a:solidFill>
              <a:srgbClr val="C9E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 txBox="1"/>
          <p:nvPr/>
        </p:nvSpPr>
        <p:spPr>
          <a:xfrm>
            <a:off x="2724912" y="288036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 Rounded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Herramienta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Público 40–59, búsqueda y ficha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2980944" y="3931920"/>
            <a:ext cx="1133856" cy="292608"/>
          </a:xfrm>
          <a:prstGeom prst="roundRect">
            <a:avLst>
              <a:gd fmla="val 50000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 txBox="1"/>
          <p:nvPr/>
        </p:nvSpPr>
        <p:spPr>
          <a:xfrm>
            <a:off x="2980944" y="3931920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 Rounded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✓ Logrado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992624" y="1700784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A9D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4992624" y="170078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 Rounded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19 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clover.png"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2664" y="2121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/>
          <p:nvPr/>
        </p:nvSpPr>
        <p:spPr>
          <a:xfrm>
            <a:off x="4654296" y="2816352"/>
            <a:ext cx="1865376" cy="1536192"/>
          </a:xfrm>
          <a:prstGeom prst="roundRect">
            <a:avLst>
              <a:gd fmla="val 5952" name="adj"/>
            </a:avLst>
          </a:prstGeom>
          <a:solidFill>
            <a:srgbClr val="FFFFFF"/>
          </a:solidFill>
          <a:ln cap="flat" cmpd="sng" w="15875">
            <a:solidFill>
              <a:srgbClr val="C9E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4764024" y="288036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 Rounded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Investigación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papers leídos y fichados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020056" y="3931920"/>
            <a:ext cx="1133856" cy="292608"/>
          </a:xfrm>
          <a:prstGeom prst="roundRect">
            <a:avLst>
              <a:gd fmla="val 50000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5020056" y="3931920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 Rounded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✓ Logrado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031736" y="1700784"/>
            <a:ext cx="1188720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A9D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 txBox="1"/>
          <p:nvPr/>
        </p:nvSpPr>
        <p:spPr>
          <a:xfrm>
            <a:off x="7031736" y="170078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 Rounded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[fecha]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clover.png"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76" y="2121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6693408" y="2816352"/>
            <a:ext cx="1865376" cy="1536192"/>
          </a:xfrm>
          <a:prstGeom prst="roundRect">
            <a:avLst>
              <a:gd fmla="val 5952" name="adj"/>
            </a:avLst>
          </a:prstGeom>
          <a:solidFill>
            <a:srgbClr val="FFFFFF"/>
          </a:solidFill>
          <a:ln cap="flat" cmpd="sng" w="15875">
            <a:solidFill>
              <a:srgbClr val="F6C3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6803136" y="288036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 Rounded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Encuesta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Formulario de 26 preguntas publicado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059168" y="3931920"/>
            <a:ext cx="1133856" cy="292608"/>
          </a:xfrm>
          <a:prstGeom prst="roundRect">
            <a:avLst>
              <a:gd fmla="val 50000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7059168" y="3931920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 Rounded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◔ En curso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>
            <p:ph idx="4294967295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rPr>
              <a:t>‹#›</a:t>
            </a:fld>
            <a:endParaRPr b="1" i="0" sz="1100" u="none" cap="none" strike="noStrike">
              <a:solidFill>
                <a:srgbClr val="55722A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Rounded"/>
              <a:buNone/>
            </a:pPr>
            <a:r>
              <a:rPr b="1" lang="en-US" sz="30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Principales datos de la investigación</a:t>
            </a:r>
            <a:endParaRPr sz="3000"/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731520" y="126187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</a:rPr>
              <a:t>Lo que nos dijeron las fuentes y los usuarios</a:t>
            </a:r>
            <a:endParaRPr sz="1500"/>
          </a:p>
        </p:txBody>
      </p:sp>
      <p:sp>
        <p:nvSpPr>
          <p:cNvPr id="148" name="Google Shape;148;p9"/>
          <p:cNvSpPr/>
          <p:nvPr/>
        </p:nvSpPr>
        <p:spPr>
          <a:xfrm>
            <a:off x="685800" y="1700784"/>
            <a:ext cx="2395728" cy="2139696"/>
          </a:xfrm>
          <a:prstGeom prst="roundRect">
            <a:avLst>
              <a:gd fmla="val 4274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1636776" y="1828800"/>
            <a:ext cx="493776" cy="493776"/>
          </a:xfrm>
          <a:prstGeom prst="ellipse">
            <a:avLst/>
          </a:prstGeom>
          <a:solidFill>
            <a:srgbClr val="F59F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0220" y="195224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/>
        </p:nvSpPr>
        <p:spPr>
          <a:xfrm>
            <a:off x="685800" y="2359152"/>
            <a:ext cx="23957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Rounded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29,1 %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822960" y="298094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tenía 2 o más enfermedades crónicas en 2020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822960" y="3474720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Zhu et al.,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3328416" y="1700784"/>
            <a:ext cx="2395728" cy="2139696"/>
          </a:xfrm>
          <a:prstGeom prst="roundRect">
            <a:avLst>
              <a:gd fmla="val 4274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279392" y="1828800"/>
            <a:ext cx="493776" cy="493776"/>
          </a:xfrm>
          <a:prstGeom prst="ellipse">
            <a:avLst/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2836" y="195224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3328416" y="2359152"/>
            <a:ext cx="23957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Rounded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4×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3465576" y="298094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 chances de envejecer bien con 5 hábitos sanos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3465576" y="3474720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Bosnes et al., 2019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971032" y="1700784"/>
            <a:ext cx="2395728" cy="2139696"/>
          </a:xfrm>
          <a:prstGeom prst="roundRect">
            <a:avLst>
              <a:gd fmla="val 4274" name="adj"/>
            </a:avLst>
          </a:prstGeom>
          <a:solidFill>
            <a:srgbClr val="E3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922008" y="1828800"/>
            <a:ext cx="493776" cy="493776"/>
          </a:xfrm>
          <a:prstGeom prst="ellipse">
            <a:avLst/>
          </a:prstGeom>
          <a:solidFill>
            <a:srgbClr val="8FCB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5452" y="195224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/>
        </p:nvSpPr>
        <p:spPr>
          <a:xfrm>
            <a:off x="5971032" y="2359152"/>
            <a:ext cx="23957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Rounded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[XX%]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6108192" y="2980944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[dato de la encuesta, p. ej. barrera principal]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6108192" y="3474720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encuesta propia (n = [N])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85800" y="3950208"/>
            <a:ext cx="7772400" cy="420624"/>
          </a:xfrm>
          <a:prstGeom prst="roundRect">
            <a:avLst>
              <a:gd fmla="val 21739" name="adj"/>
            </a:avLst>
          </a:prstGeom>
          <a:solidFill>
            <a:srgbClr val="FFFFFF"/>
          </a:solidFill>
          <a:ln cap="flat" cmpd="sng" w="15875">
            <a:solidFill>
              <a:srgbClr val="A9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248" y="4041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1188720" y="3950208"/>
            <a:ext cx="7132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 Rounded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Insight clave: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actuar antes de que aparezcan las enfermedades: los hábitos sanos se suman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>
            <p:ph idx="4294967295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rPr>
              <a:t>‹#›</a:t>
            </a:fld>
            <a:endParaRPr b="1" i="0" sz="1100" u="none" cap="none" strike="noStrike">
              <a:solidFill>
                <a:srgbClr val="55722A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>
            <p:ph type="title"/>
          </p:nvPr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Rounded"/>
              <a:buNone/>
            </a:pPr>
            <a:r>
              <a:rPr b="1" lang="en-US" sz="30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Resultado de la herramienta</a:t>
            </a:r>
            <a:endParaRPr sz="3000"/>
          </a:p>
        </p:txBody>
      </p:sp>
      <p:sp>
        <p:nvSpPr>
          <p:cNvPr id="176" name="Google Shape;176;p10"/>
          <p:cNvSpPr txBox="1"/>
          <p:nvPr>
            <p:ph idx="1" type="body"/>
          </p:nvPr>
        </p:nvSpPr>
        <p:spPr>
          <a:xfrm>
            <a:off x="731520" y="126187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</a:rPr>
              <a:t>Herramienta de recolección de datos (5 de octubre)</a:t>
            </a:r>
            <a:endParaRPr sz="1500"/>
          </a:p>
        </p:txBody>
      </p:sp>
      <p:sp>
        <p:nvSpPr>
          <p:cNvPr id="177" name="Google Shape;177;p10"/>
          <p:cNvSpPr/>
          <p:nvPr/>
        </p:nvSpPr>
        <p:spPr>
          <a:xfrm>
            <a:off x="685800" y="1719072"/>
            <a:ext cx="4023360" cy="2633472"/>
          </a:xfrm>
          <a:prstGeom prst="roundRect">
            <a:avLst>
              <a:gd fmla="val 3472" name="adj"/>
            </a:avLst>
          </a:prstGeom>
          <a:solidFill>
            <a:srgbClr val="FFFFFF"/>
          </a:solidFill>
          <a:ln cap="flat" cmpd="sng" w="19050">
            <a:solidFill>
              <a:srgbClr val="A9D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ph_tool.png"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783080"/>
            <a:ext cx="3895344" cy="250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>
            <a:off x="4937760" y="1719072"/>
            <a:ext cx="3520440" cy="804672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15875">
            <a:solidFill>
              <a:srgbClr val="E6EF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074920" y="1874520"/>
            <a:ext cx="493776" cy="493776"/>
          </a:xfrm>
          <a:prstGeom prst="ellipse">
            <a:avLst/>
          </a:prstGeom>
          <a:solidFill>
            <a:srgbClr val="F59F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8364" y="19979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 txBox="1"/>
          <p:nvPr/>
        </p:nvSpPr>
        <p:spPr>
          <a:xfrm>
            <a:off x="5715000" y="1719072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Ecuación de búsqueda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papers identificados y 11 leídos completos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937760" y="2633472"/>
            <a:ext cx="3520440" cy="804672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15875">
            <a:solidFill>
              <a:srgbClr val="E6EF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5074920" y="2788920"/>
            <a:ext cx="493776" cy="493776"/>
          </a:xfrm>
          <a:prstGeom prst="ellipse">
            <a:avLst/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8364" y="29123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 txBox="1"/>
          <p:nvPr/>
        </p:nvSpPr>
        <p:spPr>
          <a:xfrm>
            <a:off x="5715000" y="2633472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Ficha común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Población, diseño, hábito, resultado y dato útil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937760" y="3547872"/>
            <a:ext cx="3520440" cy="804672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15875">
            <a:solidFill>
              <a:srgbClr val="E6EF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074920" y="3703320"/>
            <a:ext cx="493776" cy="493776"/>
          </a:xfrm>
          <a:prstGeom prst="ellipse">
            <a:avLst/>
          </a:prstGeom>
          <a:solidFill>
            <a:srgbClr val="8FCB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98364" y="38267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 txBox="1"/>
          <p:nvPr/>
        </p:nvSpPr>
        <p:spPr>
          <a:xfrm>
            <a:off x="5715000" y="3547872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Encuesta de 26 preguntas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Rutina, barreras y fuentes: [N] respuestas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>
            <p:ph idx="4294967295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rPr>
              <a:t>‹#›</a:t>
            </a:fld>
            <a:endParaRPr b="1" i="0" sz="1100" u="none" cap="none" strike="noStrike">
              <a:solidFill>
                <a:srgbClr val="55722A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/>
          <p:nvPr>
            <p:ph type="title"/>
          </p:nvPr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Rounded"/>
              <a:buNone/>
            </a:pPr>
            <a:r>
              <a:rPr b="1" lang="en-US" sz="30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Avances según la Carta Gantt</a:t>
            </a:r>
            <a:endParaRPr sz="3000"/>
          </a:p>
        </p:txBody>
      </p:sp>
      <p:sp>
        <p:nvSpPr>
          <p:cNvPr id="198" name="Google Shape;198;p11"/>
          <p:cNvSpPr txBox="1"/>
          <p:nvPr>
            <p:ph idx="1" type="body"/>
          </p:nvPr>
        </p:nvSpPr>
        <p:spPr>
          <a:xfrm>
            <a:off x="731520" y="126187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</a:rPr>
              <a:t>Programado vs. real al 02/11</a:t>
            </a:r>
            <a:endParaRPr sz="1500"/>
          </a:p>
        </p:txBody>
      </p:sp>
      <p:sp>
        <p:nvSpPr>
          <p:cNvPr id="199" name="Google Shape;199;p11"/>
          <p:cNvSpPr/>
          <p:nvPr/>
        </p:nvSpPr>
        <p:spPr>
          <a:xfrm>
            <a:off x="685800" y="1700784"/>
            <a:ext cx="5440680" cy="26517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5875">
            <a:solidFill>
              <a:srgbClr val="E6EF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2926080" y="1810512"/>
            <a:ext cx="274320" cy="109728"/>
          </a:xfrm>
          <a:prstGeom prst="roundRect">
            <a:avLst>
              <a:gd fmla="val 50000" name="adj"/>
            </a:avLst>
          </a:prstGeom>
          <a:solidFill>
            <a:srgbClr val="FFE1EC"/>
          </a:solidFill>
          <a:ln cap="flat" cmpd="sng" w="9525">
            <a:solidFill>
              <a:srgbClr val="F59F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3255264" y="177393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251960" y="1810512"/>
            <a:ext cx="274320" cy="109728"/>
          </a:xfrm>
          <a:prstGeom prst="roundRect">
            <a:avLst>
              <a:gd fmla="val 50000" name="adj"/>
            </a:avLst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 txBox="1"/>
          <p:nvPr/>
        </p:nvSpPr>
        <p:spPr>
          <a:xfrm>
            <a:off x="4581144" y="177393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868680" y="20848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Rango etario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2514600" y="2139696"/>
            <a:ext cx="2697480" cy="256032"/>
          </a:xfrm>
          <a:prstGeom prst="roundRect">
            <a:avLst>
              <a:gd fmla="val 50000" name="adj"/>
            </a:avLst>
          </a:prstGeom>
          <a:solidFill>
            <a:srgbClr val="F4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2514600" y="2139696"/>
            <a:ext cx="2697480" cy="256032"/>
          </a:xfrm>
          <a:prstGeom prst="roundRect">
            <a:avLst>
              <a:gd fmla="val 50000" name="adj"/>
            </a:avLst>
          </a:prstGeom>
          <a:solidFill>
            <a:srgbClr val="FFE1EC"/>
          </a:solidFill>
          <a:ln cap="flat" cmpd="sng" w="9525">
            <a:solidFill>
              <a:srgbClr val="F59F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2514600" y="2194560"/>
            <a:ext cx="2697480" cy="146304"/>
          </a:xfrm>
          <a:prstGeom prst="roundRect">
            <a:avLst>
              <a:gd fmla="val 50000" name="adj"/>
            </a:avLst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5285232" y="2084832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Rounded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[XX%]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868680" y="253288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2514600" y="2587752"/>
            <a:ext cx="2697480" cy="256032"/>
          </a:xfrm>
          <a:prstGeom prst="roundRect">
            <a:avLst>
              <a:gd fmla="val 50000" name="adj"/>
            </a:avLst>
          </a:prstGeom>
          <a:solidFill>
            <a:srgbClr val="F4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2514600" y="2587752"/>
            <a:ext cx="2697480" cy="256032"/>
          </a:xfrm>
          <a:prstGeom prst="roundRect">
            <a:avLst>
              <a:gd fmla="val 50000" name="adj"/>
            </a:avLst>
          </a:prstGeom>
          <a:solidFill>
            <a:srgbClr val="FFE1EC"/>
          </a:solidFill>
          <a:ln cap="flat" cmpd="sng" w="9525">
            <a:solidFill>
              <a:srgbClr val="F59F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2514600" y="2642616"/>
            <a:ext cx="2697480" cy="146304"/>
          </a:xfrm>
          <a:prstGeom prst="roundRect">
            <a:avLst>
              <a:gd fmla="val 50000" name="adj"/>
            </a:avLst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5285232" y="2532888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Rounded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[XX%]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868680" y="2980944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Mensajes y formato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2514600" y="3035808"/>
            <a:ext cx="2697480" cy="256032"/>
          </a:xfrm>
          <a:prstGeom prst="roundRect">
            <a:avLst>
              <a:gd fmla="val 50000" name="adj"/>
            </a:avLst>
          </a:prstGeom>
          <a:solidFill>
            <a:srgbClr val="F4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2514600" y="3035808"/>
            <a:ext cx="2697480" cy="256032"/>
          </a:xfrm>
          <a:prstGeom prst="roundRect">
            <a:avLst>
              <a:gd fmla="val 50000" name="adj"/>
            </a:avLst>
          </a:prstGeom>
          <a:solidFill>
            <a:srgbClr val="FFE1EC"/>
          </a:solidFill>
          <a:ln cap="flat" cmpd="sng" w="9525">
            <a:solidFill>
              <a:srgbClr val="F59F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2514600" y="3090672"/>
            <a:ext cx="1888236" cy="146304"/>
          </a:xfrm>
          <a:prstGeom prst="roundRect">
            <a:avLst>
              <a:gd fmla="val 50000" name="adj"/>
            </a:avLst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5285232" y="2980944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Rounded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[XX%]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868680" y="34290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Afiches y posts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2514600" y="3483864"/>
            <a:ext cx="2697480" cy="256032"/>
          </a:xfrm>
          <a:prstGeom prst="roundRect">
            <a:avLst>
              <a:gd fmla="val 50000" name="adj"/>
            </a:avLst>
          </a:prstGeom>
          <a:solidFill>
            <a:srgbClr val="F4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2514600" y="3483864"/>
            <a:ext cx="2697480" cy="256032"/>
          </a:xfrm>
          <a:prstGeom prst="roundRect">
            <a:avLst>
              <a:gd fmla="val 50000" name="adj"/>
            </a:avLst>
          </a:prstGeom>
          <a:solidFill>
            <a:srgbClr val="FFE1EC"/>
          </a:solidFill>
          <a:ln cap="flat" cmpd="sng" w="9525">
            <a:solidFill>
              <a:srgbClr val="F59F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2514600" y="3538728"/>
            <a:ext cx="1213866" cy="146304"/>
          </a:xfrm>
          <a:prstGeom prst="roundRect">
            <a:avLst>
              <a:gd fmla="val 50000" name="adj"/>
            </a:avLst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 txBox="1"/>
          <p:nvPr/>
        </p:nvSpPr>
        <p:spPr>
          <a:xfrm>
            <a:off x="5285232" y="3429000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Rounded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[XX%]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868680" y="3877056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 web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2514600" y="3931920"/>
            <a:ext cx="2697480" cy="256032"/>
          </a:xfrm>
          <a:prstGeom prst="roundRect">
            <a:avLst>
              <a:gd fmla="val 50000" name="adj"/>
            </a:avLst>
          </a:prstGeom>
          <a:solidFill>
            <a:srgbClr val="F4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2514600" y="3931920"/>
            <a:ext cx="1672438" cy="256032"/>
          </a:xfrm>
          <a:prstGeom prst="roundRect">
            <a:avLst>
              <a:gd fmla="val 50000" name="adj"/>
            </a:avLst>
          </a:prstGeom>
          <a:solidFill>
            <a:srgbClr val="FFE1EC"/>
          </a:solidFill>
          <a:ln cap="flat" cmpd="sng" w="9525">
            <a:solidFill>
              <a:srgbClr val="F59F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2514600" y="3986784"/>
            <a:ext cx="269748" cy="146304"/>
          </a:xfrm>
          <a:prstGeom prst="roundRect">
            <a:avLst>
              <a:gd fmla="val 50000" name="adj"/>
            </a:avLst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 txBox="1"/>
          <p:nvPr/>
        </p:nvSpPr>
        <p:spPr>
          <a:xfrm>
            <a:off x="5285232" y="3877056"/>
            <a:ext cx="749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 Rounded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[XX%]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6355080" y="1700784"/>
            <a:ext cx="2103120" cy="2651760"/>
          </a:xfrm>
          <a:prstGeom prst="roundRect">
            <a:avLst>
              <a:gd fmla="val 4348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clover.png" id="230" name="Google Shape;2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1828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1"/>
          <p:cNvSpPr txBox="1"/>
          <p:nvPr/>
        </p:nvSpPr>
        <p:spPr>
          <a:xfrm>
            <a:off x="6355080" y="2542032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Rounded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[XX%]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6492240" y="31272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avance total del proyecto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675120" y="3730752"/>
            <a:ext cx="1463040" cy="32918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A9D0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6675120" y="373075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Rounded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✓ [Al día]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>
            <p:ph idx="4294967295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rPr>
              <a:t>‹#›</a:t>
            </a:fld>
            <a:endParaRPr b="1" i="0" sz="1100" u="none" cap="none" strike="noStrike">
              <a:solidFill>
                <a:srgbClr val="55722A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>
            <p:ph type="title"/>
          </p:nvPr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Rounded"/>
              <a:buNone/>
            </a:pPr>
            <a:r>
              <a:rPr b="1" lang="en-US" sz="30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Dificultades y cómo las resolvimos</a:t>
            </a:r>
            <a:endParaRPr sz="3000"/>
          </a:p>
        </p:txBody>
      </p:sp>
      <p:sp>
        <p:nvSpPr>
          <p:cNvPr id="242" name="Google Shape;242;p12"/>
          <p:cNvSpPr txBox="1"/>
          <p:nvPr>
            <p:ph idx="1" type="body"/>
          </p:nvPr>
        </p:nvSpPr>
        <p:spPr>
          <a:xfrm>
            <a:off x="731520" y="126187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</a:rPr>
              <a:t>Lo que nos costó y lo que aprendimos</a:t>
            </a:r>
            <a:endParaRPr sz="1500"/>
          </a:p>
        </p:txBody>
      </p:sp>
      <p:sp>
        <p:nvSpPr>
          <p:cNvPr id="243" name="Google Shape;243;p12"/>
          <p:cNvSpPr/>
          <p:nvPr/>
        </p:nvSpPr>
        <p:spPr>
          <a:xfrm>
            <a:off x="685800" y="1719072"/>
            <a:ext cx="3611880" cy="804672"/>
          </a:xfrm>
          <a:prstGeom prst="roundRect">
            <a:avLst>
              <a:gd fmla="val 11364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822960" y="1874520"/>
            <a:ext cx="493776" cy="493776"/>
          </a:xfrm>
          <a:prstGeom prst="ellipse">
            <a:avLst/>
          </a:prstGeom>
          <a:solidFill>
            <a:srgbClr val="F59F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19979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 txBox="1"/>
          <p:nvPr/>
        </p:nvSpPr>
        <p:spPr>
          <a:xfrm>
            <a:off x="1463040" y="1719072"/>
            <a:ext cx="2697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Dificultad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con pocos o muchos papers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6552" y="19842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2"/>
          <p:cNvSpPr/>
          <p:nvPr/>
        </p:nvSpPr>
        <p:spPr>
          <a:xfrm>
            <a:off x="4846320" y="1719072"/>
            <a:ext cx="3611880" cy="804672"/>
          </a:xfrm>
          <a:prstGeom prst="roundRect">
            <a:avLst>
              <a:gd fmla="val 11364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4983480" y="1874520"/>
            <a:ext cx="493776" cy="493776"/>
          </a:xfrm>
          <a:prstGeom prst="ellipse">
            <a:avLst/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6924" y="19979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5623560" y="1719072"/>
            <a:ext cx="2697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Cómo lo resolvimos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Ajustamos la ecuación por bloques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85800" y="2633472"/>
            <a:ext cx="3611880" cy="804672"/>
          </a:xfrm>
          <a:prstGeom prst="roundRect">
            <a:avLst>
              <a:gd fmla="val 11364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822960" y="2788920"/>
            <a:ext cx="493776" cy="493776"/>
          </a:xfrm>
          <a:prstGeom prst="ellipse">
            <a:avLst/>
          </a:prstGeom>
          <a:solidFill>
            <a:srgbClr val="F59F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29123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 txBox="1"/>
          <p:nvPr/>
        </p:nvSpPr>
        <p:spPr>
          <a:xfrm>
            <a:off x="1463040" y="2633472"/>
            <a:ext cx="2697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Dificultad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de 24 papers sin texto completo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6552" y="28986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4846320" y="2633472"/>
            <a:ext cx="3611880" cy="804672"/>
          </a:xfrm>
          <a:prstGeom prst="roundRect">
            <a:avLst>
              <a:gd fmla="val 11364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4983480" y="2788920"/>
            <a:ext cx="493776" cy="493776"/>
          </a:xfrm>
          <a:prstGeom prst="ellipse">
            <a:avLst/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6924" y="29123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 txBox="1"/>
          <p:nvPr/>
        </p:nvSpPr>
        <p:spPr>
          <a:xfrm>
            <a:off x="5623560" y="2633472"/>
            <a:ext cx="2697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Cómo lo resolvimos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Usamos solo los 11 leídos completos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85800" y="3547872"/>
            <a:ext cx="3611880" cy="804672"/>
          </a:xfrm>
          <a:prstGeom prst="roundRect">
            <a:avLst>
              <a:gd fmla="val 11364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822960" y="3703320"/>
            <a:ext cx="493776" cy="493776"/>
          </a:xfrm>
          <a:prstGeom prst="ellipse">
            <a:avLst/>
          </a:prstGeom>
          <a:solidFill>
            <a:srgbClr val="F59FC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38267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 txBox="1"/>
          <p:nvPr/>
        </p:nvSpPr>
        <p:spPr>
          <a:xfrm>
            <a:off x="1463040" y="3547872"/>
            <a:ext cx="2697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Dificultad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 3 a 5 horas por persona/semana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6552" y="3813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>
            <a:off x="4846320" y="3547872"/>
            <a:ext cx="3611880" cy="804672"/>
          </a:xfrm>
          <a:prstGeom prst="roundRect">
            <a:avLst>
              <a:gd fmla="val 11364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4983480" y="3703320"/>
            <a:ext cx="493776" cy="493776"/>
          </a:xfrm>
          <a:prstGeom prst="ellipse">
            <a:avLst/>
          </a:prstGeom>
          <a:solidFill>
            <a:srgbClr val="9CC9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6924" y="382676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 txBox="1"/>
          <p:nvPr/>
        </p:nvSpPr>
        <p:spPr>
          <a:xfrm>
            <a:off x="5623560" y="3547872"/>
            <a:ext cx="2697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Cómo lo resolvimos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Tareas en paralelo y 5 días de holgura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 txBox="1"/>
          <p:nvPr>
            <p:ph idx="4294967295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rPr>
              <a:t>‹#›</a:t>
            </a:fld>
            <a:endParaRPr b="1" i="0" sz="1100" u="none" cap="none" strike="noStrike">
              <a:solidFill>
                <a:srgbClr val="55722A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 txBox="1"/>
          <p:nvPr>
            <p:ph type="title"/>
          </p:nvPr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Rounded"/>
              <a:buNone/>
            </a:pPr>
            <a:r>
              <a:rPr b="1" lang="en-US" sz="3000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¡Gracias por escuchar! </a:t>
            </a:r>
            <a:r>
              <a:rPr b="1" lang="en-US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ˆ•ᴗ•ˆ</a:t>
            </a:r>
            <a:endParaRPr sz="3000"/>
          </a:p>
        </p:txBody>
      </p:sp>
      <p:sp>
        <p:nvSpPr>
          <p:cNvPr id="277" name="Google Shape;277;p13"/>
          <p:cNvSpPr txBox="1"/>
          <p:nvPr>
            <p:ph idx="1" type="body"/>
          </p:nvPr>
        </p:nvSpPr>
        <p:spPr>
          <a:xfrm>
            <a:off x="731520" y="126187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</a:rPr>
              <a:t>Envejecer Mejor · Ulysses, Lucas, Valentina, Maximiliano y Fabián</a:t>
            </a:r>
            <a:endParaRPr sz="1500"/>
          </a:p>
        </p:txBody>
      </p:sp>
      <p:sp>
        <p:nvSpPr>
          <p:cNvPr id="278" name="Google Shape;278;p13"/>
          <p:cNvSpPr txBox="1"/>
          <p:nvPr/>
        </p:nvSpPr>
        <p:spPr>
          <a:xfrm>
            <a:off x="685800" y="1700784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Próximos pasos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685800" y="2121408"/>
            <a:ext cx="2395728" cy="1325880"/>
          </a:xfrm>
          <a:prstGeom prst="roundRect">
            <a:avLst>
              <a:gd fmla="val 6897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clover.png" id="280" name="Google Shape;2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240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 txBox="1"/>
          <p:nvPr/>
        </p:nvSpPr>
        <p:spPr>
          <a:xfrm>
            <a:off x="1344168" y="22402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 Rounded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850392" y="27432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Terminar la página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de noviembre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3328416" y="2121408"/>
            <a:ext cx="2395728" cy="1325880"/>
          </a:xfrm>
          <a:prstGeom prst="roundRect">
            <a:avLst>
              <a:gd fmla="val 6897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clover.png" id="284" name="Google Shape;2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5576" y="2240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 txBox="1"/>
          <p:nvPr/>
        </p:nvSpPr>
        <p:spPr>
          <a:xfrm>
            <a:off x="3986784" y="22402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 Rounded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3493008" y="27432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Difundir el material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al 15 de noviembre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5971032" y="2121408"/>
            <a:ext cx="2395728" cy="1325880"/>
          </a:xfrm>
          <a:prstGeom prst="roundRect">
            <a:avLst>
              <a:gd fmla="val 6897" name="adj"/>
            </a:avLst>
          </a:prstGeom>
          <a:solidFill>
            <a:srgbClr val="E3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clover.png" id="288" name="Google Shape;2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8192" y="2240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 txBox="1"/>
          <p:nvPr/>
        </p:nvSpPr>
        <p:spPr>
          <a:xfrm>
            <a:off x="6629400" y="22402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 Rounded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6135624" y="27432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Entregar el informe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 de noviembre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2011680" y="3730752"/>
            <a:ext cx="2423160" cy="438912"/>
          </a:xfrm>
          <a:prstGeom prst="roundRect">
            <a:avLst>
              <a:gd fmla="val 50000" name="adj"/>
            </a:avLst>
          </a:prstGeom>
          <a:solidFill>
            <a:srgbClr val="FFE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2011680" y="373075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 Rounded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¿Preguntas? ♡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709160" y="3730752"/>
            <a:ext cx="2423160" cy="438912"/>
          </a:xfrm>
          <a:prstGeom prst="roundRect">
            <a:avLst>
              <a:gd fmla="val 50000" name="adj"/>
            </a:avLst>
          </a:prstGeom>
          <a:solidFill>
            <a:srgbClr val="E6F3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4709160" y="373075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 Rounded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@envejecer.mejor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 txBox="1"/>
          <p:nvPr>
            <p:ph idx="4294967295" type="sldNum"/>
          </p:nvPr>
        </p:nvSpPr>
        <p:spPr>
          <a:xfrm>
            <a:off x="8069580" y="456285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100" u="none" cap="none" strike="noStrike">
                <a:solidFill>
                  <a:srgbClr val="55722A"/>
                </a:solidFill>
                <a:latin typeface="Arial Rounded"/>
                <a:ea typeface="Arial Rounded"/>
                <a:cs typeface="Arial Rounded"/>
                <a:sym typeface="Arial Rounded"/>
              </a:rPr>
              <a:t>‹#›</a:t>
            </a:fld>
            <a:endParaRPr b="1" i="0" sz="1100" u="none" cap="none" strike="noStrike">
              <a:solidFill>
                <a:srgbClr val="55722A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nvejecer Mejor Pastel">
  <a:themeElements>
    <a:clrScheme name="Envejecer Mejor Pastel">
      <a:dk1>
        <a:srgbClr val="55722A"/>
      </a:dk1>
      <a:lt1>
        <a:srgbClr val="FFFFFF"/>
      </a:lt1>
      <a:dk2>
        <a:srgbClr val="D9628F"/>
      </a:dk2>
      <a:lt2>
        <a:srgbClr val="FCFDF1"/>
      </a:lt2>
      <a:accent1>
        <a:srgbClr val="F59FC1"/>
      </a:accent1>
      <a:accent2>
        <a:srgbClr val="B4D97A"/>
      </a:accent2>
      <a:accent3>
        <a:srgbClr val="8FCBEA"/>
      </a:accent3>
      <a:accent4>
        <a:srgbClr val="FFE1EC"/>
      </a:accent4>
      <a:accent5>
        <a:srgbClr val="E6F3C9"/>
      </a:accent5>
      <a:accent6>
        <a:srgbClr val="F5C84C"/>
      </a:accent6>
      <a:hlink>
        <a:srgbClr val="D9628F"/>
      </a:hlink>
      <a:folHlink>
        <a:srgbClr val="8FCB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vejecer Mejor Pastel">
  <a:themeElements>
    <a:clrScheme name="Envejecer Mejor Pastel">
      <a:dk1>
        <a:srgbClr val="55722A"/>
      </a:dk1>
      <a:lt1>
        <a:srgbClr val="FFFFFF"/>
      </a:lt1>
      <a:dk2>
        <a:srgbClr val="D9628F"/>
      </a:dk2>
      <a:lt2>
        <a:srgbClr val="FCFDF1"/>
      </a:lt2>
      <a:accent1>
        <a:srgbClr val="F59FC1"/>
      </a:accent1>
      <a:accent2>
        <a:srgbClr val="B4D97A"/>
      </a:accent2>
      <a:accent3>
        <a:srgbClr val="8FCBEA"/>
      </a:accent3>
      <a:accent4>
        <a:srgbClr val="FFE1EC"/>
      </a:accent4>
      <a:accent5>
        <a:srgbClr val="E6F3C9"/>
      </a:accent5>
      <a:accent6>
        <a:srgbClr val="F5C84C"/>
      </a:accent6>
      <a:hlink>
        <a:srgbClr val="D9628F"/>
      </a:hlink>
      <a:folHlink>
        <a:srgbClr val="8FCB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